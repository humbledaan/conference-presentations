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56032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Microsoft Fabric Capacity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Understanding Bursting, Smoothing &amp; Capacity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130"/>
                </a:solidFill>
              </a:defRPr>
            </a:pPr>
            <a:r>
              <a:t>📊  Capacity Units &amp; SKUs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130"/>
                </a:solidFill>
              </a:defRPr>
            </a:pPr>
            <a:r>
              <a:t>⏱️  Smoothing Mechanisms (5-min &amp; 24-hr)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130"/>
                </a:solidFill>
              </a:defRPr>
            </a:pPr>
            <a:r>
              <a:t>🚀  Bursting &amp; Throttling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130"/>
                </a:solidFill>
              </a:defRPr>
            </a:pPr>
            <a:r>
              <a:t>🛠️  Capacity Management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2286000"/>
            <a:ext cx="1218895" cy="1218895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130"/>
                </a:solidFill>
              </a:defRPr>
            </a:pPr>
            <a:r>
              <a:t>Capacity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What is a Capacity Unit (CU)?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The fundamental measure of compute in Microsoft Fabric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Every operation consumes CUs based on complexity and resources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Measured in CU-seconds: 1 CU running for 1 second = 1 CU-second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Different operations have different CU costs (queries, refreshes, dataflows)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CU consumption is tracked and smoothed over time windows</a:t>
            </a:r>
          </a:p>
        </p:txBody>
      </p:sp>
      <p:sp>
        <p:nvSpPr>
          <p:cNvPr id="4" name="!! CU Block"/>
          <p:cNvSpPr/>
          <p:nvPr/>
        </p:nvSpPr>
        <p:spPr>
          <a:xfrm>
            <a:off x="9144000" y="2286000"/>
            <a:ext cx="1371600" cy="1371600"/>
          </a:xfrm>
          <a:prstGeom prst="roundRect">
            <a:avLst/>
          </a:prstGeom>
          <a:solidFill>
            <a:srgbClr val="117865"/>
          </a:solidFill>
          <a:ln w="381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3840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17865"/>
                </a:solidFill>
              </a:defRPr>
            </a:pPr>
            <a:r>
              <a:t>1 CU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Fabric Capacity SKUs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From F2 to F2048 — Choose the right size for your workload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20040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F2</a:t>
            </a:r>
            <a:br/>
            <a:r>
              <a:t>2 CU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365760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F4</a:t>
            </a:r>
            <a:br/>
            <a:r>
              <a:t>4 CU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2011680"/>
            <a:ext cx="457200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514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F8</a:t>
            </a:r>
            <a:br/>
            <a:r>
              <a:t>8 CU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011680"/>
            <a:ext cx="640080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5146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F16</a:t>
            </a:r>
            <a:br/>
            <a:r>
              <a:t>16 CU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011680"/>
            <a:ext cx="1005840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5146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F32</a:t>
            </a:r>
            <a:br/>
            <a:r>
              <a:t>32 CU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011680"/>
            <a:ext cx="1737360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5146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F64</a:t>
            </a:r>
            <a:br/>
            <a:r>
              <a:t>64 CU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1210665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77640"/>
            <a:ext cx="121066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F128 (128 CU)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05025" y="3474720"/>
            <a:ext cx="2147011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5025" y="3977640"/>
            <a:ext cx="214701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F256 (256 CU)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89196" y="3474720"/>
            <a:ext cx="2743200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9196" y="3977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F512 (512 CU)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69556" y="3474720"/>
            <a:ext cx="2743200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9556" y="3977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F1024 (1024 CU)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49916" y="3474720"/>
            <a:ext cx="2743200" cy="457200"/>
          </a:xfrm>
          <a:prstGeom prst="roundRect">
            <a:avLst/>
          </a:prstGeom>
          <a:solidFill>
            <a:srgbClr val="117865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9916" y="3977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23130"/>
                </a:solidFill>
              </a:defRPr>
            </a:pPr>
            <a:r>
              <a:t>F2048 (2048 CU)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5A4C"/>
                </a:solidFill>
              </a:defRPr>
            </a:pPr>
            <a:r>
              <a:t>💡 F64 is the most common starting point — 64 CUs with balanced cost/performance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The 30-Second Evaluation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How Fabric measures your capacity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Fabric evaluates capacity usage every 30 seconds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F64 capacity = 64 CU × 30 seconds = 1,920 CU-seconds per window</a:t>
            </a:r>
          </a:p>
        </p:txBody>
      </p:sp>
      <p:sp>
        <p:nvSpPr>
          <p:cNvPr id="5" name="!! Grid Cell"/>
          <p:cNvSpPr/>
          <p:nvPr/>
        </p:nvSpPr>
        <p:spPr>
          <a:xfrm>
            <a:off x="91440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 Grid Cell"/>
          <p:cNvSpPr/>
          <p:nvPr/>
        </p:nvSpPr>
        <p:spPr>
          <a:xfrm>
            <a:off x="91440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 Grid Cell"/>
          <p:cNvSpPr/>
          <p:nvPr/>
        </p:nvSpPr>
        <p:spPr>
          <a:xfrm>
            <a:off x="91440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 Grid Cell"/>
          <p:cNvSpPr/>
          <p:nvPr/>
        </p:nvSpPr>
        <p:spPr>
          <a:xfrm>
            <a:off x="91440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 Grid Cell"/>
          <p:cNvSpPr/>
          <p:nvPr/>
        </p:nvSpPr>
        <p:spPr>
          <a:xfrm>
            <a:off x="91440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 Grid Cell"/>
          <p:cNvSpPr/>
          <p:nvPr/>
        </p:nvSpPr>
        <p:spPr>
          <a:xfrm>
            <a:off x="91440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 Grid Cell"/>
          <p:cNvSpPr/>
          <p:nvPr/>
        </p:nvSpPr>
        <p:spPr>
          <a:xfrm>
            <a:off x="91440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 Grid Cell"/>
          <p:cNvSpPr/>
          <p:nvPr/>
        </p:nvSpPr>
        <p:spPr>
          <a:xfrm>
            <a:off x="91440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 Grid Cell"/>
          <p:cNvSpPr/>
          <p:nvPr/>
        </p:nvSpPr>
        <p:spPr>
          <a:xfrm>
            <a:off x="123444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 Grid Cell"/>
          <p:cNvSpPr/>
          <p:nvPr/>
        </p:nvSpPr>
        <p:spPr>
          <a:xfrm>
            <a:off x="123444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 Grid Cell"/>
          <p:cNvSpPr/>
          <p:nvPr/>
        </p:nvSpPr>
        <p:spPr>
          <a:xfrm>
            <a:off x="123444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 Grid Cell"/>
          <p:cNvSpPr/>
          <p:nvPr/>
        </p:nvSpPr>
        <p:spPr>
          <a:xfrm>
            <a:off x="123444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 Grid Cell"/>
          <p:cNvSpPr/>
          <p:nvPr/>
        </p:nvSpPr>
        <p:spPr>
          <a:xfrm>
            <a:off x="123444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 Grid Cell"/>
          <p:cNvSpPr/>
          <p:nvPr/>
        </p:nvSpPr>
        <p:spPr>
          <a:xfrm>
            <a:off x="123444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 Grid Cell"/>
          <p:cNvSpPr/>
          <p:nvPr/>
        </p:nvSpPr>
        <p:spPr>
          <a:xfrm>
            <a:off x="123444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 Grid Cell"/>
          <p:cNvSpPr/>
          <p:nvPr/>
        </p:nvSpPr>
        <p:spPr>
          <a:xfrm>
            <a:off x="123444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 Grid Cell"/>
          <p:cNvSpPr/>
          <p:nvPr/>
        </p:nvSpPr>
        <p:spPr>
          <a:xfrm>
            <a:off x="155448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 Grid Cell"/>
          <p:cNvSpPr/>
          <p:nvPr/>
        </p:nvSpPr>
        <p:spPr>
          <a:xfrm>
            <a:off x="155448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 Grid Cell"/>
          <p:cNvSpPr/>
          <p:nvPr/>
        </p:nvSpPr>
        <p:spPr>
          <a:xfrm>
            <a:off x="155448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 Grid Cell"/>
          <p:cNvSpPr/>
          <p:nvPr/>
        </p:nvSpPr>
        <p:spPr>
          <a:xfrm>
            <a:off x="155448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 Grid Cell"/>
          <p:cNvSpPr/>
          <p:nvPr/>
        </p:nvSpPr>
        <p:spPr>
          <a:xfrm>
            <a:off x="155448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 Grid Cell"/>
          <p:cNvSpPr/>
          <p:nvPr/>
        </p:nvSpPr>
        <p:spPr>
          <a:xfrm>
            <a:off x="155448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 Grid Cell"/>
          <p:cNvSpPr/>
          <p:nvPr/>
        </p:nvSpPr>
        <p:spPr>
          <a:xfrm>
            <a:off x="155448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 Grid Cell"/>
          <p:cNvSpPr/>
          <p:nvPr/>
        </p:nvSpPr>
        <p:spPr>
          <a:xfrm>
            <a:off x="155448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 Grid Cell"/>
          <p:cNvSpPr/>
          <p:nvPr/>
        </p:nvSpPr>
        <p:spPr>
          <a:xfrm>
            <a:off x="187452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 Grid Cell"/>
          <p:cNvSpPr/>
          <p:nvPr/>
        </p:nvSpPr>
        <p:spPr>
          <a:xfrm>
            <a:off x="187452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 Grid Cell"/>
          <p:cNvSpPr/>
          <p:nvPr/>
        </p:nvSpPr>
        <p:spPr>
          <a:xfrm>
            <a:off x="187452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 Grid Cell"/>
          <p:cNvSpPr/>
          <p:nvPr/>
        </p:nvSpPr>
        <p:spPr>
          <a:xfrm>
            <a:off x="187452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 Grid Cell"/>
          <p:cNvSpPr/>
          <p:nvPr/>
        </p:nvSpPr>
        <p:spPr>
          <a:xfrm>
            <a:off x="187452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 Grid Cell"/>
          <p:cNvSpPr/>
          <p:nvPr/>
        </p:nvSpPr>
        <p:spPr>
          <a:xfrm>
            <a:off x="187452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 Grid Cell"/>
          <p:cNvSpPr/>
          <p:nvPr/>
        </p:nvSpPr>
        <p:spPr>
          <a:xfrm>
            <a:off x="187452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 Grid Cell"/>
          <p:cNvSpPr/>
          <p:nvPr/>
        </p:nvSpPr>
        <p:spPr>
          <a:xfrm>
            <a:off x="187452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 Grid Cell"/>
          <p:cNvSpPr/>
          <p:nvPr/>
        </p:nvSpPr>
        <p:spPr>
          <a:xfrm>
            <a:off x="219456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 Grid Cell"/>
          <p:cNvSpPr/>
          <p:nvPr/>
        </p:nvSpPr>
        <p:spPr>
          <a:xfrm>
            <a:off x="219456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 Grid Cell"/>
          <p:cNvSpPr/>
          <p:nvPr/>
        </p:nvSpPr>
        <p:spPr>
          <a:xfrm>
            <a:off x="219456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 Grid Cell"/>
          <p:cNvSpPr/>
          <p:nvPr/>
        </p:nvSpPr>
        <p:spPr>
          <a:xfrm>
            <a:off x="219456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 Grid Cell"/>
          <p:cNvSpPr/>
          <p:nvPr/>
        </p:nvSpPr>
        <p:spPr>
          <a:xfrm>
            <a:off x="219456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 Grid Cell"/>
          <p:cNvSpPr/>
          <p:nvPr/>
        </p:nvSpPr>
        <p:spPr>
          <a:xfrm>
            <a:off x="219456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 Grid Cell"/>
          <p:cNvSpPr/>
          <p:nvPr/>
        </p:nvSpPr>
        <p:spPr>
          <a:xfrm>
            <a:off x="219456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 Grid Cell"/>
          <p:cNvSpPr/>
          <p:nvPr/>
        </p:nvSpPr>
        <p:spPr>
          <a:xfrm>
            <a:off x="219456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 Grid Cell"/>
          <p:cNvSpPr/>
          <p:nvPr/>
        </p:nvSpPr>
        <p:spPr>
          <a:xfrm>
            <a:off x="251460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 Grid Cell"/>
          <p:cNvSpPr/>
          <p:nvPr/>
        </p:nvSpPr>
        <p:spPr>
          <a:xfrm>
            <a:off x="251460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 Grid Cell"/>
          <p:cNvSpPr/>
          <p:nvPr/>
        </p:nvSpPr>
        <p:spPr>
          <a:xfrm>
            <a:off x="251460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 Grid Cell"/>
          <p:cNvSpPr/>
          <p:nvPr/>
        </p:nvSpPr>
        <p:spPr>
          <a:xfrm>
            <a:off x="251460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 Grid Cell"/>
          <p:cNvSpPr/>
          <p:nvPr/>
        </p:nvSpPr>
        <p:spPr>
          <a:xfrm>
            <a:off x="251460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 Grid Cell"/>
          <p:cNvSpPr/>
          <p:nvPr/>
        </p:nvSpPr>
        <p:spPr>
          <a:xfrm>
            <a:off x="251460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 Grid Cell"/>
          <p:cNvSpPr/>
          <p:nvPr/>
        </p:nvSpPr>
        <p:spPr>
          <a:xfrm>
            <a:off x="251460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 Grid Cell"/>
          <p:cNvSpPr/>
          <p:nvPr/>
        </p:nvSpPr>
        <p:spPr>
          <a:xfrm>
            <a:off x="251460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 Grid Cell"/>
          <p:cNvSpPr/>
          <p:nvPr/>
        </p:nvSpPr>
        <p:spPr>
          <a:xfrm>
            <a:off x="283464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 Grid Cell"/>
          <p:cNvSpPr/>
          <p:nvPr/>
        </p:nvSpPr>
        <p:spPr>
          <a:xfrm>
            <a:off x="283464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 Grid Cell"/>
          <p:cNvSpPr/>
          <p:nvPr/>
        </p:nvSpPr>
        <p:spPr>
          <a:xfrm>
            <a:off x="283464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 Grid Cell"/>
          <p:cNvSpPr/>
          <p:nvPr/>
        </p:nvSpPr>
        <p:spPr>
          <a:xfrm>
            <a:off x="283464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 Grid Cell"/>
          <p:cNvSpPr/>
          <p:nvPr/>
        </p:nvSpPr>
        <p:spPr>
          <a:xfrm>
            <a:off x="283464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 Grid Cell"/>
          <p:cNvSpPr/>
          <p:nvPr/>
        </p:nvSpPr>
        <p:spPr>
          <a:xfrm>
            <a:off x="283464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 Grid Cell"/>
          <p:cNvSpPr/>
          <p:nvPr/>
        </p:nvSpPr>
        <p:spPr>
          <a:xfrm>
            <a:off x="283464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 Grid Cell"/>
          <p:cNvSpPr/>
          <p:nvPr/>
        </p:nvSpPr>
        <p:spPr>
          <a:xfrm>
            <a:off x="283464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 Grid Cell"/>
          <p:cNvSpPr/>
          <p:nvPr/>
        </p:nvSpPr>
        <p:spPr>
          <a:xfrm>
            <a:off x="315468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 Grid Cell"/>
          <p:cNvSpPr/>
          <p:nvPr/>
        </p:nvSpPr>
        <p:spPr>
          <a:xfrm>
            <a:off x="315468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 Grid Cell"/>
          <p:cNvSpPr/>
          <p:nvPr/>
        </p:nvSpPr>
        <p:spPr>
          <a:xfrm>
            <a:off x="315468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 Grid Cell"/>
          <p:cNvSpPr/>
          <p:nvPr/>
        </p:nvSpPr>
        <p:spPr>
          <a:xfrm>
            <a:off x="315468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 Grid Cell"/>
          <p:cNvSpPr/>
          <p:nvPr/>
        </p:nvSpPr>
        <p:spPr>
          <a:xfrm>
            <a:off x="315468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 Grid Cell"/>
          <p:cNvSpPr/>
          <p:nvPr/>
        </p:nvSpPr>
        <p:spPr>
          <a:xfrm>
            <a:off x="315468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 Grid Cell"/>
          <p:cNvSpPr/>
          <p:nvPr/>
        </p:nvSpPr>
        <p:spPr>
          <a:xfrm>
            <a:off x="315468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 Grid Cell"/>
          <p:cNvSpPr/>
          <p:nvPr/>
        </p:nvSpPr>
        <p:spPr>
          <a:xfrm>
            <a:off x="315468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 Grid Cell"/>
          <p:cNvSpPr/>
          <p:nvPr/>
        </p:nvSpPr>
        <p:spPr>
          <a:xfrm>
            <a:off x="347472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 Grid Cell"/>
          <p:cNvSpPr/>
          <p:nvPr/>
        </p:nvSpPr>
        <p:spPr>
          <a:xfrm>
            <a:off x="347472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 Grid Cell"/>
          <p:cNvSpPr/>
          <p:nvPr/>
        </p:nvSpPr>
        <p:spPr>
          <a:xfrm>
            <a:off x="347472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 Grid Cell"/>
          <p:cNvSpPr/>
          <p:nvPr/>
        </p:nvSpPr>
        <p:spPr>
          <a:xfrm>
            <a:off x="347472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 Grid Cell"/>
          <p:cNvSpPr/>
          <p:nvPr/>
        </p:nvSpPr>
        <p:spPr>
          <a:xfrm>
            <a:off x="347472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 Grid Cell"/>
          <p:cNvSpPr/>
          <p:nvPr/>
        </p:nvSpPr>
        <p:spPr>
          <a:xfrm>
            <a:off x="347472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 Grid Cell"/>
          <p:cNvSpPr/>
          <p:nvPr/>
        </p:nvSpPr>
        <p:spPr>
          <a:xfrm>
            <a:off x="347472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 Grid Cell"/>
          <p:cNvSpPr/>
          <p:nvPr/>
        </p:nvSpPr>
        <p:spPr>
          <a:xfrm>
            <a:off x="347472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 Grid Cell"/>
          <p:cNvSpPr/>
          <p:nvPr/>
        </p:nvSpPr>
        <p:spPr>
          <a:xfrm>
            <a:off x="379476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 Grid Cell"/>
          <p:cNvSpPr/>
          <p:nvPr/>
        </p:nvSpPr>
        <p:spPr>
          <a:xfrm>
            <a:off x="379476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 Grid Cell"/>
          <p:cNvSpPr/>
          <p:nvPr/>
        </p:nvSpPr>
        <p:spPr>
          <a:xfrm>
            <a:off x="379476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 Grid Cell"/>
          <p:cNvSpPr/>
          <p:nvPr/>
        </p:nvSpPr>
        <p:spPr>
          <a:xfrm>
            <a:off x="379476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 Grid Cell"/>
          <p:cNvSpPr/>
          <p:nvPr/>
        </p:nvSpPr>
        <p:spPr>
          <a:xfrm>
            <a:off x="379476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 Grid Cell"/>
          <p:cNvSpPr/>
          <p:nvPr/>
        </p:nvSpPr>
        <p:spPr>
          <a:xfrm>
            <a:off x="379476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 Grid Cell"/>
          <p:cNvSpPr/>
          <p:nvPr/>
        </p:nvSpPr>
        <p:spPr>
          <a:xfrm>
            <a:off x="379476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 Grid Cell"/>
          <p:cNvSpPr/>
          <p:nvPr/>
        </p:nvSpPr>
        <p:spPr>
          <a:xfrm>
            <a:off x="379476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 Grid Cell"/>
          <p:cNvSpPr/>
          <p:nvPr/>
        </p:nvSpPr>
        <p:spPr>
          <a:xfrm>
            <a:off x="411480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 Grid Cell"/>
          <p:cNvSpPr/>
          <p:nvPr/>
        </p:nvSpPr>
        <p:spPr>
          <a:xfrm>
            <a:off x="411480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 Grid Cell"/>
          <p:cNvSpPr/>
          <p:nvPr/>
        </p:nvSpPr>
        <p:spPr>
          <a:xfrm>
            <a:off x="411480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 Grid Cell"/>
          <p:cNvSpPr/>
          <p:nvPr/>
        </p:nvSpPr>
        <p:spPr>
          <a:xfrm>
            <a:off x="411480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 Grid Cell"/>
          <p:cNvSpPr/>
          <p:nvPr/>
        </p:nvSpPr>
        <p:spPr>
          <a:xfrm>
            <a:off x="411480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 Grid Cell"/>
          <p:cNvSpPr/>
          <p:nvPr/>
        </p:nvSpPr>
        <p:spPr>
          <a:xfrm>
            <a:off x="411480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 Grid Cell"/>
          <p:cNvSpPr/>
          <p:nvPr/>
        </p:nvSpPr>
        <p:spPr>
          <a:xfrm>
            <a:off x="411480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 Grid Cell"/>
          <p:cNvSpPr/>
          <p:nvPr/>
        </p:nvSpPr>
        <p:spPr>
          <a:xfrm>
            <a:off x="411480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 Grid Cell"/>
          <p:cNvSpPr/>
          <p:nvPr/>
        </p:nvSpPr>
        <p:spPr>
          <a:xfrm>
            <a:off x="443484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 Grid Cell"/>
          <p:cNvSpPr/>
          <p:nvPr/>
        </p:nvSpPr>
        <p:spPr>
          <a:xfrm>
            <a:off x="443484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 Grid Cell"/>
          <p:cNvSpPr/>
          <p:nvPr/>
        </p:nvSpPr>
        <p:spPr>
          <a:xfrm>
            <a:off x="443484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 Grid Cell"/>
          <p:cNvSpPr/>
          <p:nvPr/>
        </p:nvSpPr>
        <p:spPr>
          <a:xfrm>
            <a:off x="443484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 Grid Cell"/>
          <p:cNvSpPr/>
          <p:nvPr/>
        </p:nvSpPr>
        <p:spPr>
          <a:xfrm>
            <a:off x="443484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 Grid Cell"/>
          <p:cNvSpPr/>
          <p:nvPr/>
        </p:nvSpPr>
        <p:spPr>
          <a:xfrm>
            <a:off x="443484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 Grid Cell"/>
          <p:cNvSpPr/>
          <p:nvPr/>
        </p:nvSpPr>
        <p:spPr>
          <a:xfrm>
            <a:off x="443484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 Grid Cell"/>
          <p:cNvSpPr/>
          <p:nvPr/>
        </p:nvSpPr>
        <p:spPr>
          <a:xfrm>
            <a:off x="443484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 Grid Cell"/>
          <p:cNvSpPr/>
          <p:nvPr/>
        </p:nvSpPr>
        <p:spPr>
          <a:xfrm>
            <a:off x="475488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 Grid Cell"/>
          <p:cNvSpPr/>
          <p:nvPr/>
        </p:nvSpPr>
        <p:spPr>
          <a:xfrm>
            <a:off x="475488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 Grid Cell"/>
          <p:cNvSpPr/>
          <p:nvPr/>
        </p:nvSpPr>
        <p:spPr>
          <a:xfrm>
            <a:off x="475488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 Grid Cell"/>
          <p:cNvSpPr/>
          <p:nvPr/>
        </p:nvSpPr>
        <p:spPr>
          <a:xfrm>
            <a:off x="475488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 Grid Cell"/>
          <p:cNvSpPr/>
          <p:nvPr/>
        </p:nvSpPr>
        <p:spPr>
          <a:xfrm>
            <a:off x="475488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 Grid Cell"/>
          <p:cNvSpPr/>
          <p:nvPr/>
        </p:nvSpPr>
        <p:spPr>
          <a:xfrm>
            <a:off x="475488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 Grid Cell"/>
          <p:cNvSpPr/>
          <p:nvPr/>
        </p:nvSpPr>
        <p:spPr>
          <a:xfrm>
            <a:off x="475488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 Grid Cell"/>
          <p:cNvSpPr/>
          <p:nvPr/>
        </p:nvSpPr>
        <p:spPr>
          <a:xfrm>
            <a:off x="475488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 Grid Cell"/>
          <p:cNvSpPr/>
          <p:nvPr/>
        </p:nvSpPr>
        <p:spPr>
          <a:xfrm>
            <a:off x="507492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 Grid Cell"/>
          <p:cNvSpPr/>
          <p:nvPr/>
        </p:nvSpPr>
        <p:spPr>
          <a:xfrm>
            <a:off x="507492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 Grid Cell"/>
          <p:cNvSpPr/>
          <p:nvPr/>
        </p:nvSpPr>
        <p:spPr>
          <a:xfrm>
            <a:off x="507492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 Grid Cell"/>
          <p:cNvSpPr/>
          <p:nvPr/>
        </p:nvSpPr>
        <p:spPr>
          <a:xfrm>
            <a:off x="507492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 Grid Cell"/>
          <p:cNvSpPr/>
          <p:nvPr/>
        </p:nvSpPr>
        <p:spPr>
          <a:xfrm>
            <a:off x="507492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 Grid Cell"/>
          <p:cNvSpPr/>
          <p:nvPr/>
        </p:nvSpPr>
        <p:spPr>
          <a:xfrm>
            <a:off x="507492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 Grid Cell"/>
          <p:cNvSpPr/>
          <p:nvPr/>
        </p:nvSpPr>
        <p:spPr>
          <a:xfrm>
            <a:off x="507492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 Grid Cell"/>
          <p:cNvSpPr/>
          <p:nvPr/>
        </p:nvSpPr>
        <p:spPr>
          <a:xfrm>
            <a:off x="507492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 Grid Cell"/>
          <p:cNvSpPr/>
          <p:nvPr/>
        </p:nvSpPr>
        <p:spPr>
          <a:xfrm>
            <a:off x="539496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 Grid Cell"/>
          <p:cNvSpPr/>
          <p:nvPr/>
        </p:nvSpPr>
        <p:spPr>
          <a:xfrm>
            <a:off x="539496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 Grid Cell"/>
          <p:cNvSpPr/>
          <p:nvPr/>
        </p:nvSpPr>
        <p:spPr>
          <a:xfrm>
            <a:off x="539496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 Grid Cell"/>
          <p:cNvSpPr/>
          <p:nvPr/>
        </p:nvSpPr>
        <p:spPr>
          <a:xfrm>
            <a:off x="539496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 Grid Cell"/>
          <p:cNvSpPr/>
          <p:nvPr/>
        </p:nvSpPr>
        <p:spPr>
          <a:xfrm>
            <a:off x="539496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 Grid Cell"/>
          <p:cNvSpPr/>
          <p:nvPr/>
        </p:nvSpPr>
        <p:spPr>
          <a:xfrm>
            <a:off x="539496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 Grid Cell"/>
          <p:cNvSpPr/>
          <p:nvPr/>
        </p:nvSpPr>
        <p:spPr>
          <a:xfrm>
            <a:off x="539496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 Grid Cell"/>
          <p:cNvSpPr/>
          <p:nvPr/>
        </p:nvSpPr>
        <p:spPr>
          <a:xfrm>
            <a:off x="539496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 Grid Cell"/>
          <p:cNvSpPr/>
          <p:nvPr/>
        </p:nvSpPr>
        <p:spPr>
          <a:xfrm>
            <a:off x="571500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 Grid Cell"/>
          <p:cNvSpPr/>
          <p:nvPr/>
        </p:nvSpPr>
        <p:spPr>
          <a:xfrm>
            <a:off x="571500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 Grid Cell"/>
          <p:cNvSpPr/>
          <p:nvPr/>
        </p:nvSpPr>
        <p:spPr>
          <a:xfrm>
            <a:off x="571500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 Grid Cell"/>
          <p:cNvSpPr/>
          <p:nvPr/>
        </p:nvSpPr>
        <p:spPr>
          <a:xfrm>
            <a:off x="571500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 Grid Cell"/>
          <p:cNvSpPr/>
          <p:nvPr/>
        </p:nvSpPr>
        <p:spPr>
          <a:xfrm>
            <a:off x="571500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 Grid Cell"/>
          <p:cNvSpPr/>
          <p:nvPr/>
        </p:nvSpPr>
        <p:spPr>
          <a:xfrm>
            <a:off x="571500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 Grid Cell"/>
          <p:cNvSpPr/>
          <p:nvPr/>
        </p:nvSpPr>
        <p:spPr>
          <a:xfrm>
            <a:off x="571500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 Grid Cell"/>
          <p:cNvSpPr/>
          <p:nvPr/>
        </p:nvSpPr>
        <p:spPr>
          <a:xfrm>
            <a:off x="571500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 Grid Cell"/>
          <p:cNvSpPr/>
          <p:nvPr/>
        </p:nvSpPr>
        <p:spPr>
          <a:xfrm>
            <a:off x="603504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 Grid Cell"/>
          <p:cNvSpPr/>
          <p:nvPr/>
        </p:nvSpPr>
        <p:spPr>
          <a:xfrm>
            <a:off x="603504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 Grid Cell"/>
          <p:cNvSpPr/>
          <p:nvPr/>
        </p:nvSpPr>
        <p:spPr>
          <a:xfrm>
            <a:off x="603504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 Grid Cell"/>
          <p:cNvSpPr/>
          <p:nvPr/>
        </p:nvSpPr>
        <p:spPr>
          <a:xfrm>
            <a:off x="603504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 Grid Cell"/>
          <p:cNvSpPr/>
          <p:nvPr/>
        </p:nvSpPr>
        <p:spPr>
          <a:xfrm>
            <a:off x="603504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 Grid Cell"/>
          <p:cNvSpPr/>
          <p:nvPr/>
        </p:nvSpPr>
        <p:spPr>
          <a:xfrm>
            <a:off x="603504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 Grid Cell"/>
          <p:cNvSpPr/>
          <p:nvPr/>
        </p:nvSpPr>
        <p:spPr>
          <a:xfrm>
            <a:off x="603504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 Grid Cell"/>
          <p:cNvSpPr/>
          <p:nvPr/>
        </p:nvSpPr>
        <p:spPr>
          <a:xfrm>
            <a:off x="603504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 Grid Cell"/>
          <p:cNvSpPr/>
          <p:nvPr/>
        </p:nvSpPr>
        <p:spPr>
          <a:xfrm>
            <a:off x="635508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 Grid Cell"/>
          <p:cNvSpPr/>
          <p:nvPr/>
        </p:nvSpPr>
        <p:spPr>
          <a:xfrm>
            <a:off x="635508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 Grid Cell"/>
          <p:cNvSpPr/>
          <p:nvPr/>
        </p:nvSpPr>
        <p:spPr>
          <a:xfrm>
            <a:off x="635508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 Grid Cell"/>
          <p:cNvSpPr/>
          <p:nvPr/>
        </p:nvSpPr>
        <p:spPr>
          <a:xfrm>
            <a:off x="635508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 Grid Cell"/>
          <p:cNvSpPr/>
          <p:nvPr/>
        </p:nvSpPr>
        <p:spPr>
          <a:xfrm>
            <a:off x="635508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 Grid Cell"/>
          <p:cNvSpPr/>
          <p:nvPr/>
        </p:nvSpPr>
        <p:spPr>
          <a:xfrm>
            <a:off x="635508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 Grid Cell"/>
          <p:cNvSpPr/>
          <p:nvPr/>
        </p:nvSpPr>
        <p:spPr>
          <a:xfrm>
            <a:off x="635508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 Grid Cell"/>
          <p:cNvSpPr/>
          <p:nvPr/>
        </p:nvSpPr>
        <p:spPr>
          <a:xfrm>
            <a:off x="635508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 Grid Cell"/>
          <p:cNvSpPr/>
          <p:nvPr/>
        </p:nvSpPr>
        <p:spPr>
          <a:xfrm>
            <a:off x="667512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 Grid Cell"/>
          <p:cNvSpPr/>
          <p:nvPr/>
        </p:nvSpPr>
        <p:spPr>
          <a:xfrm>
            <a:off x="667512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 Grid Cell"/>
          <p:cNvSpPr/>
          <p:nvPr/>
        </p:nvSpPr>
        <p:spPr>
          <a:xfrm>
            <a:off x="667512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 Grid Cell"/>
          <p:cNvSpPr/>
          <p:nvPr/>
        </p:nvSpPr>
        <p:spPr>
          <a:xfrm>
            <a:off x="667512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 Grid Cell"/>
          <p:cNvSpPr/>
          <p:nvPr/>
        </p:nvSpPr>
        <p:spPr>
          <a:xfrm>
            <a:off x="667512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 Grid Cell"/>
          <p:cNvSpPr/>
          <p:nvPr/>
        </p:nvSpPr>
        <p:spPr>
          <a:xfrm>
            <a:off x="667512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 Grid Cell"/>
          <p:cNvSpPr/>
          <p:nvPr/>
        </p:nvSpPr>
        <p:spPr>
          <a:xfrm>
            <a:off x="667512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 Grid Cell"/>
          <p:cNvSpPr/>
          <p:nvPr/>
        </p:nvSpPr>
        <p:spPr>
          <a:xfrm>
            <a:off x="667512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 Grid Cell"/>
          <p:cNvSpPr/>
          <p:nvPr/>
        </p:nvSpPr>
        <p:spPr>
          <a:xfrm>
            <a:off x="699516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 Grid Cell"/>
          <p:cNvSpPr/>
          <p:nvPr/>
        </p:nvSpPr>
        <p:spPr>
          <a:xfrm>
            <a:off x="699516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 Grid Cell"/>
          <p:cNvSpPr/>
          <p:nvPr/>
        </p:nvSpPr>
        <p:spPr>
          <a:xfrm>
            <a:off x="699516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 Grid Cell"/>
          <p:cNvSpPr/>
          <p:nvPr/>
        </p:nvSpPr>
        <p:spPr>
          <a:xfrm>
            <a:off x="699516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 Grid Cell"/>
          <p:cNvSpPr/>
          <p:nvPr/>
        </p:nvSpPr>
        <p:spPr>
          <a:xfrm>
            <a:off x="699516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 Grid Cell"/>
          <p:cNvSpPr/>
          <p:nvPr/>
        </p:nvSpPr>
        <p:spPr>
          <a:xfrm>
            <a:off x="699516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 Grid Cell"/>
          <p:cNvSpPr/>
          <p:nvPr/>
        </p:nvSpPr>
        <p:spPr>
          <a:xfrm>
            <a:off x="699516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 Grid Cell"/>
          <p:cNvSpPr/>
          <p:nvPr/>
        </p:nvSpPr>
        <p:spPr>
          <a:xfrm>
            <a:off x="699516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 Grid Cell"/>
          <p:cNvSpPr/>
          <p:nvPr/>
        </p:nvSpPr>
        <p:spPr>
          <a:xfrm>
            <a:off x="731520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 Grid Cell"/>
          <p:cNvSpPr/>
          <p:nvPr/>
        </p:nvSpPr>
        <p:spPr>
          <a:xfrm>
            <a:off x="731520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 Grid Cell"/>
          <p:cNvSpPr/>
          <p:nvPr/>
        </p:nvSpPr>
        <p:spPr>
          <a:xfrm>
            <a:off x="731520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 Grid Cell"/>
          <p:cNvSpPr/>
          <p:nvPr/>
        </p:nvSpPr>
        <p:spPr>
          <a:xfrm>
            <a:off x="731520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 Grid Cell"/>
          <p:cNvSpPr/>
          <p:nvPr/>
        </p:nvSpPr>
        <p:spPr>
          <a:xfrm>
            <a:off x="731520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 Grid Cell"/>
          <p:cNvSpPr/>
          <p:nvPr/>
        </p:nvSpPr>
        <p:spPr>
          <a:xfrm>
            <a:off x="731520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 Grid Cell"/>
          <p:cNvSpPr/>
          <p:nvPr/>
        </p:nvSpPr>
        <p:spPr>
          <a:xfrm>
            <a:off x="731520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 Grid Cell"/>
          <p:cNvSpPr/>
          <p:nvPr/>
        </p:nvSpPr>
        <p:spPr>
          <a:xfrm>
            <a:off x="731520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 Grid Cell"/>
          <p:cNvSpPr/>
          <p:nvPr/>
        </p:nvSpPr>
        <p:spPr>
          <a:xfrm>
            <a:off x="763524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 Grid Cell"/>
          <p:cNvSpPr/>
          <p:nvPr/>
        </p:nvSpPr>
        <p:spPr>
          <a:xfrm>
            <a:off x="763524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 Grid Cell"/>
          <p:cNvSpPr/>
          <p:nvPr/>
        </p:nvSpPr>
        <p:spPr>
          <a:xfrm>
            <a:off x="763524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 Grid Cell"/>
          <p:cNvSpPr/>
          <p:nvPr/>
        </p:nvSpPr>
        <p:spPr>
          <a:xfrm>
            <a:off x="763524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 Grid Cell"/>
          <p:cNvSpPr/>
          <p:nvPr/>
        </p:nvSpPr>
        <p:spPr>
          <a:xfrm>
            <a:off x="763524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 Grid Cell"/>
          <p:cNvSpPr/>
          <p:nvPr/>
        </p:nvSpPr>
        <p:spPr>
          <a:xfrm>
            <a:off x="763524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 Grid Cell"/>
          <p:cNvSpPr/>
          <p:nvPr/>
        </p:nvSpPr>
        <p:spPr>
          <a:xfrm>
            <a:off x="763524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 Grid Cell"/>
          <p:cNvSpPr/>
          <p:nvPr/>
        </p:nvSpPr>
        <p:spPr>
          <a:xfrm>
            <a:off x="763524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 Grid Cell"/>
          <p:cNvSpPr/>
          <p:nvPr/>
        </p:nvSpPr>
        <p:spPr>
          <a:xfrm>
            <a:off x="795528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 Grid Cell"/>
          <p:cNvSpPr/>
          <p:nvPr/>
        </p:nvSpPr>
        <p:spPr>
          <a:xfrm>
            <a:off x="795528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 Grid Cell"/>
          <p:cNvSpPr/>
          <p:nvPr/>
        </p:nvSpPr>
        <p:spPr>
          <a:xfrm>
            <a:off x="795528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 Grid Cell"/>
          <p:cNvSpPr/>
          <p:nvPr/>
        </p:nvSpPr>
        <p:spPr>
          <a:xfrm>
            <a:off x="795528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 Grid Cell"/>
          <p:cNvSpPr/>
          <p:nvPr/>
        </p:nvSpPr>
        <p:spPr>
          <a:xfrm>
            <a:off x="795528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 Grid Cell"/>
          <p:cNvSpPr/>
          <p:nvPr/>
        </p:nvSpPr>
        <p:spPr>
          <a:xfrm>
            <a:off x="795528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 Grid Cell"/>
          <p:cNvSpPr/>
          <p:nvPr/>
        </p:nvSpPr>
        <p:spPr>
          <a:xfrm>
            <a:off x="795528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 Grid Cell"/>
          <p:cNvSpPr/>
          <p:nvPr/>
        </p:nvSpPr>
        <p:spPr>
          <a:xfrm>
            <a:off x="795528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 Grid Cell"/>
          <p:cNvSpPr/>
          <p:nvPr/>
        </p:nvSpPr>
        <p:spPr>
          <a:xfrm>
            <a:off x="827532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 Grid Cell"/>
          <p:cNvSpPr/>
          <p:nvPr/>
        </p:nvSpPr>
        <p:spPr>
          <a:xfrm>
            <a:off x="827532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 Grid Cell"/>
          <p:cNvSpPr/>
          <p:nvPr/>
        </p:nvSpPr>
        <p:spPr>
          <a:xfrm>
            <a:off x="827532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 Grid Cell"/>
          <p:cNvSpPr/>
          <p:nvPr/>
        </p:nvSpPr>
        <p:spPr>
          <a:xfrm>
            <a:off x="827532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 Grid Cell"/>
          <p:cNvSpPr/>
          <p:nvPr/>
        </p:nvSpPr>
        <p:spPr>
          <a:xfrm>
            <a:off x="827532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!! Grid Cell"/>
          <p:cNvSpPr/>
          <p:nvPr/>
        </p:nvSpPr>
        <p:spPr>
          <a:xfrm>
            <a:off x="827532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!! Grid Cell"/>
          <p:cNvSpPr/>
          <p:nvPr/>
        </p:nvSpPr>
        <p:spPr>
          <a:xfrm>
            <a:off x="827532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!! Grid Cell"/>
          <p:cNvSpPr/>
          <p:nvPr/>
        </p:nvSpPr>
        <p:spPr>
          <a:xfrm>
            <a:off x="827532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!! Grid Cell"/>
          <p:cNvSpPr/>
          <p:nvPr/>
        </p:nvSpPr>
        <p:spPr>
          <a:xfrm>
            <a:off x="859536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!! Grid Cell"/>
          <p:cNvSpPr/>
          <p:nvPr/>
        </p:nvSpPr>
        <p:spPr>
          <a:xfrm>
            <a:off x="859536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!! Grid Cell"/>
          <p:cNvSpPr/>
          <p:nvPr/>
        </p:nvSpPr>
        <p:spPr>
          <a:xfrm>
            <a:off x="859536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!! Grid Cell"/>
          <p:cNvSpPr/>
          <p:nvPr/>
        </p:nvSpPr>
        <p:spPr>
          <a:xfrm>
            <a:off x="859536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!! Grid Cell"/>
          <p:cNvSpPr/>
          <p:nvPr/>
        </p:nvSpPr>
        <p:spPr>
          <a:xfrm>
            <a:off x="859536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!! Grid Cell"/>
          <p:cNvSpPr/>
          <p:nvPr/>
        </p:nvSpPr>
        <p:spPr>
          <a:xfrm>
            <a:off x="859536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!! Grid Cell"/>
          <p:cNvSpPr/>
          <p:nvPr/>
        </p:nvSpPr>
        <p:spPr>
          <a:xfrm>
            <a:off x="859536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 Grid Cell"/>
          <p:cNvSpPr/>
          <p:nvPr/>
        </p:nvSpPr>
        <p:spPr>
          <a:xfrm>
            <a:off x="859536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 Grid Cell"/>
          <p:cNvSpPr/>
          <p:nvPr/>
        </p:nvSpPr>
        <p:spPr>
          <a:xfrm>
            <a:off x="891540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!! Grid Cell"/>
          <p:cNvSpPr/>
          <p:nvPr/>
        </p:nvSpPr>
        <p:spPr>
          <a:xfrm>
            <a:off x="891540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!! Grid Cell"/>
          <p:cNvSpPr/>
          <p:nvPr/>
        </p:nvSpPr>
        <p:spPr>
          <a:xfrm>
            <a:off x="891540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!! Grid Cell"/>
          <p:cNvSpPr/>
          <p:nvPr/>
        </p:nvSpPr>
        <p:spPr>
          <a:xfrm>
            <a:off x="891540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 Grid Cell"/>
          <p:cNvSpPr/>
          <p:nvPr/>
        </p:nvSpPr>
        <p:spPr>
          <a:xfrm>
            <a:off x="891540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 Grid Cell"/>
          <p:cNvSpPr/>
          <p:nvPr/>
        </p:nvSpPr>
        <p:spPr>
          <a:xfrm>
            <a:off x="891540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 Grid Cell"/>
          <p:cNvSpPr/>
          <p:nvPr/>
        </p:nvSpPr>
        <p:spPr>
          <a:xfrm>
            <a:off x="891540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!! Grid Cell"/>
          <p:cNvSpPr/>
          <p:nvPr/>
        </p:nvSpPr>
        <p:spPr>
          <a:xfrm>
            <a:off x="891540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!! Grid Cell"/>
          <p:cNvSpPr/>
          <p:nvPr/>
        </p:nvSpPr>
        <p:spPr>
          <a:xfrm>
            <a:off x="923544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!! Grid Cell"/>
          <p:cNvSpPr/>
          <p:nvPr/>
        </p:nvSpPr>
        <p:spPr>
          <a:xfrm>
            <a:off x="923544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 Grid Cell"/>
          <p:cNvSpPr/>
          <p:nvPr/>
        </p:nvSpPr>
        <p:spPr>
          <a:xfrm>
            <a:off x="923544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 Grid Cell"/>
          <p:cNvSpPr/>
          <p:nvPr/>
        </p:nvSpPr>
        <p:spPr>
          <a:xfrm>
            <a:off x="923544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!! Grid Cell"/>
          <p:cNvSpPr/>
          <p:nvPr/>
        </p:nvSpPr>
        <p:spPr>
          <a:xfrm>
            <a:off x="923544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!! Grid Cell"/>
          <p:cNvSpPr/>
          <p:nvPr/>
        </p:nvSpPr>
        <p:spPr>
          <a:xfrm>
            <a:off x="923544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!! Grid Cell"/>
          <p:cNvSpPr/>
          <p:nvPr/>
        </p:nvSpPr>
        <p:spPr>
          <a:xfrm>
            <a:off x="923544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!! Grid Cell"/>
          <p:cNvSpPr/>
          <p:nvPr/>
        </p:nvSpPr>
        <p:spPr>
          <a:xfrm>
            <a:off x="923544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!! Grid Cell"/>
          <p:cNvSpPr/>
          <p:nvPr/>
        </p:nvSpPr>
        <p:spPr>
          <a:xfrm>
            <a:off x="955548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!! Grid Cell"/>
          <p:cNvSpPr/>
          <p:nvPr/>
        </p:nvSpPr>
        <p:spPr>
          <a:xfrm>
            <a:off x="955548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!! Grid Cell"/>
          <p:cNvSpPr/>
          <p:nvPr/>
        </p:nvSpPr>
        <p:spPr>
          <a:xfrm>
            <a:off x="955548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!! Grid Cell"/>
          <p:cNvSpPr/>
          <p:nvPr/>
        </p:nvSpPr>
        <p:spPr>
          <a:xfrm>
            <a:off x="955548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!! Grid Cell"/>
          <p:cNvSpPr/>
          <p:nvPr/>
        </p:nvSpPr>
        <p:spPr>
          <a:xfrm>
            <a:off x="955548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!! Grid Cell"/>
          <p:cNvSpPr/>
          <p:nvPr/>
        </p:nvSpPr>
        <p:spPr>
          <a:xfrm>
            <a:off x="955548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!! Grid Cell"/>
          <p:cNvSpPr/>
          <p:nvPr/>
        </p:nvSpPr>
        <p:spPr>
          <a:xfrm>
            <a:off x="955548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!! Grid Cell"/>
          <p:cNvSpPr/>
          <p:nvPr/>
        </p:nvSpPr>
        <p:spPr>
          <a:xfrm>
            <a:off x="955548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!! Grid Cell"/>
          <p:cNvSpPr/>
          <p:nvPr/>
        </p:nvSpPr>
        <p:spPr>
          <a:xfrm>
            <a:off x="987552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!! Grid Cell"/>
          <p:cNvSpPr/>
          <p:nvPr/>
        </p:nvSpPr>
        <p:spPr>
          <a:xfrm>
            <a:off x="987552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!! Grid Cell"/>
          <p:cNvSpPr/>
          <p:nvPr/>
        </p:nvSpPr>
        <p:spPr>
          <a:xfrm>
            <a:off x="987552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!! Grid Cell"/>
          <p:cNvSpPr/>
          <p:nvPr/>
        </p:nvSpPr>
        <p:spPr>
          <a:xfrm>
            <a:off x="987552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!! Grid Cell"/>
          <p:cNvSpPr/>
          <p:nvPr/>
        </p:nvSpPr>
        <p:spPr>
          <a:xfrm>
            <a:off x="987552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!! Grid Cell"/>
          <p:cNvSpPr/>
          <p:nvPr/>
        </p:nvSpPr>
        <p:spPr>
          <a:xfrm>
            <a:off x="987552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!! Grid Cell"/>
          <p:cNvSpPr/>
          <p:nvPr/>
        </p:nvSpPr>
        <p:spPr>
          <a:xfrm>
            <a:off x="987552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!! Grid Cell"/>
          <p:cNvSpPr/>
          <p:nvPr/>
        </p:nvSpPr>
        <p:spPr>
          <a:xfrm>
            <a:off x="987552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!! Grid Cell"/>
          <p:cNvSpPr/>
          <p:nvPr/>
        </p:nvSpPr>
        <p:spPr>
          <a:xfrm>
            <a:off x="10195560" y="320040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!! Grid Cell"/>
          <p:cNvSpPr/>
          <p:nvPr/>
        </p:nvSpPr>
        <p:spPr>
          <a:xfrm>
            <a:off x="10195560" y="363931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!! Grid Cell"/>
          <p:cNvSpPr/>
          <p:nvPr/>
        </p:nvSpPr>
        <p:spPr>
          <a:xfrm>
            <a:off x="10195560" y="407822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!! Grid Cell"/>
          <p:cNvSpPr/>
          <p:nvPr/>
        </p:nvSpPr>
        <p:spPr>
          <a:xfrm>
            <a:off x="10195560" y="4517136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!! Grid Cell"/>
          <p:cNvSpPr/>
          <p:nvPr/>
        </p:nvSpPr>
        <p:spPr>
          <a:xfrm>
            <a:off x="10195560" y="4956048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!! Grid Cell"/>
          <p:cNvSpPr/>
          <p:nvPr/>
        </p:nvSpPr>
        <p:spPr>
          <a:xfrm>
            <a:off x="10195560" y="5394960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!! Grid Cell"/>
          <p:cNvSpPr/>
          <p:nvPr/>
        </p:nvSpPr>
        <p:spPr>
          <a:xfrm>
            <a:off x="10195560" y="5833872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!! Grid Cell"/>
          <p:cNvSpPr/>
          <p:nvPr/>
        </p:nvSpPr>
        <p:spPr>
          <a:xfrm>
            <a:off x="10195560" y="6272784"/>
            <a:ext cx="301752" cy="384048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914400" y="3657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D5A4C"/>
                </a:solidFill>
              </a:defRPr>
            </a:pPr>
            <a:r>
              <a:t>0s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4114800" y="3657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D5A4C"/>
                </a:solidFill>
              </a:defRPr>
            </a:pPr>
            <a:r>
              <a:t>10s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315200" y="3657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D5A4C"/>
                </a:solidFill>
              </a:defRPr>
            </a:pPr>
            <a:r>
              <a:t>20s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195560" y="3657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D5A4C"/>
                </a:solidFill>
              </a:defRPr>
            </a:pPr>
            <a:r>
              <a:t>29s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30 seconds × 64 CUs = 1,920 CU-seconds available per evaluation window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2286000"/>
            <a:ext cx="1218895" cy="1218895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130"/>
                </a:solidFill>
              </a:defRPr>
            </a:pPr>
            <a:r>
              <a:t>Smoothing Mechanisms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Two Types of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Interactive vs Background — Different smoothing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D13438"/>
          </a:solidFill>
          <a:ln w="381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13438"/>
                </a:solidFill>
              </a:defRPr>
            </a:pPr>
            <a:r>
              <a:t>🔴 Interactive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User-initiated, needs fast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Report renders, dashboard refreshes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Direct queries, ad-hoc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13438"/>
                </a:solidFill>
              </a:defRPr>
            </a:pPr>
            <a:r>
              <a:t>Smoothing: 5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13438"/>
                </a:solidFill>
              </a:defRPr>
            </a:pPr>
            <a:r>
              <a:t>Behavior: Spiky, urgent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0078D4"/>
          </a:solidFill>
          <a:ln w="381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8D4"/>
                </a:solidFill>
              </a:defRPr>
            </a:pPr>
            <a:r>
              <a:t>🔵 Background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Scheduled jobs, can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80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Data refreshes, dataflows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Scheduled notebooks, pipelines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703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766560" y="4114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Smoothing: 24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526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Behavior: Stable, patient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5A4C"/>
                </a:solidFill>
              </a:defRPr>
            </a:pPr>
            <a:r>
              <a:t>⚠️ This matches the Capacity Metrics App — Red = Interactive, Blue = Background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5-Minute Interactive Smoothing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Spreading spiky usage across a 5-minute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058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10058400" cy="38100"/>
          </a:xfrm>
          <a:prstGeom prst="rect">
            <a:avLst/>
          </a:prstGeom>
          <a:solidFill>
            <a:srgbClr val="0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2423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D5A4C"/>
                </a:solidFill>
              </a:defRPr>
            </a:pPr>
            <a:r>
              <a:t>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206240"/>
            <a:ext cx="731520" cy="27432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65960" y="4023360"/>
            <a:ext cx="731520" cy="45720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3108960"/>
            <a:ext cx="731520" cy="137160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86200" y="3749040"/>
            <a:ext cx="731520" cy="73152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0" y="2468880"/>
            <a:ext cx="731520" cy="201168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3931920"/>
            <a:ext cx="731520" cy="54864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0" y="2834640"/>
            <a:ext cx="731520" cy="164592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80" y="4114800"/>
            <a:ext cx="731520" cy="36576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3383280"/>
            <a:ext cx="731520" cy="109728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3657600"/>
            <a:ext cx="731520" cy="822960"/>
          </a:xfrm>
          <a:prstGeom prst="round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200400"/>
            <a:ext cx="9601200" cy="508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80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13438"/>
                </a:solidFill>
              </a:defRPr>
            </a:pPr>
            <a:r>
              <a:t>5-min smoothed average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4709160"/>
            <a:ext cx="2286000" cy="32004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4736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13438"/>
                </a:solidFill>
              </a:defRPr>
            </a:pPr>
            <a:r>
              <a:t>← 5 minutes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A 30-second spike that uses 2× capacity gets spread over 5 minutes, reducing effective usage to a small fraction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24-Hour Background Smoothing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Scheduled jobs spread across the entire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058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10058400" cy="38100"/>
          </a:xfrm>
          <a:prstGeom prst="rect">
            <a:avLst/>
          </a:prstGeom>
          <a:solidFill>
            <a:srgbClr val="0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25880" y="2651760"/>
            <a:ext cx="457200" cy="1828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71800" y="2834640"/>
            <a:ext cx="457200" cy="1645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457200" cy="2286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39" y="3108960"/>
            <a:ext cx="457200" cy="1371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840480"/>
            <a:ext cx="969264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24-hr smoothed (nearly flat!)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00:00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06:00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12:00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18:00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24:00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058400" cy="3200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6519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D4"/>
                </a:solidFill>
              </a:defRPr>
            </a:pPr>
            <a:r>
              <a:t>← Full 24 hours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A 1-hour job consuming 10× capacity gets spread over 24 hours = only ~40% effective utilization!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Smoothing Comparison: The Key Difference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7680" y="1645920"/>
            <a:ext cx="3200400" cy="640080"/>
          </a:xfrm>
          <a:prstGeom prst="roundRect">
            <a:avLst/>
          </a:prstGeom>
          <a:solidFill>
            <a:srgbClr val="D13438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0" y="1783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Interactive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45920"/>
            <a:ext cx="3200400" cy="640080"/>
          </a:xfrm>
          <a:prstGeom prst="roundRect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783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3200400" cy="640080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Smoothing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200400" cy="640080"/>
          </a:xfrm>
          <a:prstGeom prst="roundRect">
            <a:avLst/>
          </a:prstGeom>
          <a:solidFill>
            <a:srgbClr val="FDEDED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5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286000"/>
            <a:ext cx="3200400" cy="640080"/>
          </a:xfrm>
          <a:prstGeom prst="roundRect">
            <a:avLst/>
          </a:prstGeom>
          <a:solidFill>
            <a:srgbClr val="E6F2FA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4231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24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26080"/>
            <a:ext cx="3200400" cy="640080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Use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926080"/>
            <a:ext cx="3200400" cy="640080"/>
          </a:xfrm>
          <a:prstGeom prst="roundRect">
            <a:avLst/>
          </a:prstGeom>
          <a:solidFill>
            <a:srgbClr val="FDEDED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063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User queries,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926080"/>
            <a:ext cx="3200400" cy="640080"/>
          </a:xfrm>
          <a:prstGeom prst="roundRect">
            <a:avLst/>
          </a:prstGeom>
          <a:solidFill>
            <a:srgbClr val="E6F2FA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Scheduled refreshes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566160"/>
            <a:ext cx="3200400" cy="640080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033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Spike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566160"/>
            <a:ext cx="3200400" cy="640080"/>
          </a:xfrm>
          <a:prstGeom prst="roundRect">
            <a:avLst/>
          </a:prstGeom>
          <a:solidFill>
            <a:srgbClr val="FDEDED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7033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High (shorter window)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3566160"/>
            <a:ext cx="3200400" cy="640080"/>
          </a:xfrm>
          <a:prstGeom prst="roundRect">
            <a:avLst/>
          </a:prstGeom>
          <a:solidFill>
            <a:srgbClr val="E6F2FA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033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Low (longer window)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206240"/>
            <a:ext cx="3200400" cy="640080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343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Throttle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206240"/>
            <a:ext cx="3200400" cy="640080"/>
          </a:xfrm>
          <a:prstGeom prst="roundRect">
            <a:avLst/>
          </a:prstGeom>
          <a:solidFill>
            <a:srgbClr val="FDEDED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343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Higher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4206240"/>
            <a:ext cx="3200400" cy="640080"/>
          </a:xfrm>
          <a:prstGeom prst="roundRect">
            <a:avLst/>
          </a:prstGeom>
          <a:solidFill>
            <a:srgbClr val="E6F2FA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4343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Lower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46320"/>
            <a:ext cx="3200400" cy="640080"/>
          </a:xfrm>
          <a:prstGeom prst="roundRect">
            <a:avLst/>
          </a:prstGeom>
          <a:solidFill>
            <a:srgbClr val="117865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834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Best Practice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846320"/>
            <a:ext cx="3200400" cy="640080"/>
          </a:xfrm>
          <a:prstGeom prst="roundRect">
            <a:avLst/>
          </a:prstGeom>
          <a:solidFill>
            <a:srgbClr val="FDEDED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9834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Optimize hot queries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4846320"/>
            <a:ext cx="3200400" cy="640080"/>
          </a:xfrm>
          <a:prstGeom prst="roundRect">
            <a:avLst/>
          </a:prstGeom>
          <a:solidFill>
            <a:srgbClr val="E6F2FA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9834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Schedule off-peak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2286000"/>
            <a:ext cx="1218895" cy="1218895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130"/>
                </a:solidFill>
              </a:defRPr>
            </a:pPr>
            <a:r>
              <a:t>Bursting Mechanism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What is Bursting?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Your capacity's built-in shock absorber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Bursting allows temporary usage above your base capacity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Works like a savings account: unused capacity accumulates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Maximum burst bank = 10 minutes of your capacity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F64 burst bank max = 64 CU × 10 min × 60 sec = 38,400 CU-seconds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When you need more, you draw from the bank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286000"/>
            <a:ext cx="3200400" cy="2286000"/>
          </a:xfrm>
          <a:prstGeom prst="roundRect">
            <a:avLst/>
          </a:prstGeom>
          <a:solidFill>
            <a:srgbClr val="F2C811"/>
          </a:solidFill>
          <a:ln w="38100">
            <a:solidFill>
              <a:srgbClr val="A8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2468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84D0A"/>
                </a:solidFill>
              </a:defRPr>
            </a:pPr>
            <a:r>
              <a:t>🏦 Burst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108960"/>
            <a:ext cx="2834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23130"/>
                </a:solidFill>
              </a:defRPr>
            </a:pPr>
            <a:r>
              <a:t>Balance:</a:t>
            </a:r>
            <a:br/>
            <a:r>
              <a:t>38,400 CU-sec</a:t>
            </a:r>
            <a:br/>
            <a:r>
              <a:t>(10 min @ F64)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How Burst Capacity Accumulates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Low usage periods fill your burst bank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029200" cy="4114800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7C10"/>
                </a:solidFill>
              </a:defRPr>
            </a:pPr>
            <a:r>
              <a:t>During Low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457200" cy="13716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457200" cy="4572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4114800"/>
            <a:ext cx="457200" cy="13716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54480" y="5029200"/>
            <a:ext cx="457200" cy="4572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94560" y="4114800"/>
            <a:ext cx="457200" cy="13716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5029200"/>
            <a:ext cx="457200" cy="4572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39" y="4114800"/>
            <a:ext cx="457200" cy="13716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39" y="5029200"/>
            <a:ext cx="457200" cy="4572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4114800"/>
            <a:ext cx="457200" cy="13716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5029200"/>
            <a:ext cx="457200" cy="4572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4114800"/>
            <a:ext cx="457200" cy="13716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5029200"/>
            <a:ext cx="457200" cy="4572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7C10"/>
                </a:solidFill>
              </a:defRPr>
            </a:pPr>
            <a:r>
              <a:t>↑ Unused capacity → Burst bank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2C811"/>
          </a:solidFill>
          <a:ln w="25400">
            <a:solidFill>
              <a:srgbClr val="A8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A84D0A"/>
                </a:solidFill>
              </a:defRPr>
            </a:pPr>
            <a:r>
              <a:t>Burst Bank Fills 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560320"/>
            <a:ext cx="22860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18120" y="3931920"/>
            <a:ext cx="2194560" cy="132588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2062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A84D0A"/>
                </a:solidFill>
              </a:defRPr>
            </a:pPr>
            <a:r>
              <a:t>~70%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84D0A"/>
                </a:solidFill>
              </a:defRPr>
            </a:pPr>
            <a:r>
              <a:t>Max (10 min)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How Burst Capacity Gets Consumed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Spikes draw from your accumulated burst bank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7C10"/>
                </a:solidFill>
              </a:defRPr>
            </a:pPr>
            <a:r>
              <a:t>Before Spike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16459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2551175"/>
            <a:ext cx="1554480" cy="1975104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7C10"/>
                </a:solidFill>
              </a:defRPr>
            </a:pPr>
            <a:r>
              <a:t>Bank: 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13438"/>
                </a:solidFill>
              </a:defRPr>
            </a:pPr>
            <a:r>
              <a:t>During Spike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286000"/>
            <a:ext cx="16459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57800" y="3209544"/>
            <a:ext cx="1554480" cy="1316736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754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13438"/>
                </a:solidFill>
              </a:defRPr>
            </a:pPr>
            <a:r>
              <a:t>Using burst!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84D0A"/>
                </a:solidFill>
              </a:defRPr>
            </a:pPr>
            <a:r>
              <a:t>After Spike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286000"/>
            <a:ext cx="16459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8280" y="3648456"/>
            <a:ext cx="1554480" cy="877824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754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84D0A"/>
                </a:solidFill>
              </a:defRPr>
            </a:pPr>
            <a:r>
              <a:t>Bank: 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D5A4C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D5A4C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23130"/>
                </a:solidFill>
              </a:defRPr>
            </a:pPr>
            <a:r>
              <a:t>When burst bank empties: Interactive → Throttled delays | Background → Queued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Burst Bank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Watching accumulation, consumption, and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515600" cy="25400"/>
          </a:xfrm>
          <a:prstGeom prst="rect">
            <a:avLst/>
          </a:prstGeom>
          <a:solidFill>
            <a:srgbClr val="A84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1965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4D0A"/>
                </a:solidFill>
              </a:defRPr>
            </a:pPr>
            <a:r>
              <a:t>Max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10515600" cy="25400"/>
          </a:xfrm>
          <a:prstGeom prst="rect">
            <a:avLst/>
          </a:prstGeom>
          <a:solidFill>
            <a:srgbClr val="0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20" y="4297680"/>
            <a:ext cx="548640" cy="45720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3931920"/>
            <a:ext cx="548640" cy="82296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51760" y="3566160"/>
            <a:ext cx="548640" cy="118872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3200400"/>
            <a:ext cx="548640" cy="155448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2834640"/>
            <a:ext cx="548640" cy="192024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2468880"/>
            <a:ext cx="548640" cy="228600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3108960"/>
            <a:ext cx="548640" cy="16459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40"/>
            <a:ext cx="548640" cy="100584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0" y="3749040"/>
            <a:ext cx="548640" cy="100584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3474720"/>
            <a:ext cx="548640" cy="128016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0" y="3200400"/>
            <a:ext cx="548640" cy="155448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2926080"/>
            <a:ext cx="548640" cy="182880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0" y="2651760"/>
            <a:ext cx="548640" cy="210312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5120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7C10"/>
                </a:solidFill>
              </a:defRPr>
            </a:pPr>
            <a:r>
              <a:t>Accumulating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120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13438"/>
                </a:solidFill>
              </a:defRPr>
            </a:pPr>
            <a:r>
              <a:t>Spike!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120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7C10"/>
                </a:solidFill>
              </a:defRPr>
            </a:pPr>
            <a:r>
              <a:t>Recovering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394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5394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10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394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15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5394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20 min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2286000"/>
            <a:ext cx="1218895" cy="1218895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130"/>
                </a:solidFill>
              </a:defRPr>
            </a:pPr>
            <a:r>
              <a:t>Throttling &amp; Protection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Throttling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From healthy to throttled — know the warning signs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rgbClr val="107C10"/>
          </a:solidFill>
          <a:ln w="381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HEALTHY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560320"/>
            <a:ext cx="1280160" cy="12801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7C10"/>
                </a:solidFill>
              </a:defRPr>
            </a:pPr>
            <a:r>
              <a:t>&lt;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No delays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474720" cy="3200400"/>
          </a:xfrm>
          <a:prstGeom prst="roundRect">
            <a:avLst/>
          </a:prstGeom>
          <a:solidFill>
            <a:srgbClr val="A84D0A"/>
          </a:solidFill>
          <a:ln w="38100">
            <a:solidFill>
              <a:srgbClr val="A8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A84D0A"/>
                </a:solidFill>
              </a:defRPr>
            </a:pPr>
            <a:r>
              <a:t>OVERAGE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0" y="2560320"/>
            <a:ext cx="1280160" cy="12801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A84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84D0A"/>
                </a:solidFill>
              </a:defRPr>
            </a:pPr>
            <a:r>
              <a:t>100-120%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891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Using burst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3474720" cy="3200400"/>
          </a:xfrm>
          <a:prstGeom prst="roundRect">
            <a:avLst/>
          </a:prstGeom>
          <a:solidFill>
            <a:srgbClr val="D13438"/>
          </a:solidFill>
          <a:ln w="381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13438"/>
                </a:solidFill>
              </a:defRPr>
            </a:pPr>
            <a:r>
              <a:t>THROTTLED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0" y="2560320"/>
            <a:ext cx="1280160" cy="12801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9319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13438"/>
                </a:solidFill>
              </a:defRPr>
            </a:pPr>
            <a:r>
              <a:t>&gt; 120%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3891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130"/>
                </a:solidFill>
              </a:defRPr>
            </a:pPr>
            <a:r>
              <a:t>Delays active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5303520" cy="1280160"/>
          </a:xfrm>
          <a:prstGeom prst="roundRect">
            <a:avLst/>
          </a:prstGeom>
          <a:solidFill>
            <a:srgbClr val="D13438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5120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🔴 Interactive: Requests delayed incrementally</a:t>
            </a:r>
            <a:br/>
            <a:r>
              <a:t>Max delay: ~6 minutes at 200% utilization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120640"/>
            <a:ext cx="5303520" cy="1280160"/>
          </a:xfrm>
          <a:prstGeom prst="roundRect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212080"/>
            <a:ext cx="5120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🔵 Background: Jobs queued, not delayed</a:t>
            </a:r>
            <a:br/>
            <a:r>
              <a:t>May timeout after 24 hours in queue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Interactive Request Delay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How delay increases with overutilization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D5A4C"/>
                </a:solidFill>
              </a:defRPr>
            </a:pPr>
            <a:r>
              <a:t>6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D5A4C"/>
                </a:solidFill>
              </a:defRPr>
            </a:pPr>
            <a:r>
              <a:t>4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D5A4C"/>
                </a:solidFill>
              </a:defRPr>
            </a:pPr>
            <a:r>
              <a:t>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D5A4C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D5A4C"/>
                </a:solidFill>
              </a:defRPr>
            </a:pPr>
            <a: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5778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D5A4C"/>
                </a:solidFill>
              </a:defRPr>
            </a:pPr>
            <a: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55778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D5A4C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55778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D5A4C"/>
                </a:solidFill>
              </a:defRPr>
            </a:pPr>
            <a:r>
              <a:t>150%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55778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D5A4C"/>
                </a:solidFill>
              </a:defRPr>
            </a:pPr>
            <a:r>
              <a:t>200%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1828800"/>
            <a:ext cx="4572000" cy="36576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1828800"/>
            <a:ext cx="914400" cy="3657600"/>
          </a:xfrm>
          <a:prstGeom prst="roundRect">
            <a:avLst/>
          </a:prstGeom>
          <a:solidFill>
            <a:srgbClr val="A84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828800"/>
            <a:ext cx="3657600" cy="36576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25400" cy="3657600"/>
          </a:xfrm>
          <a:prstGeom prst="rect">
            <a:avLst/>
          </a:prstGeom>
          <a:solidFill>
            <a:srgbClr val="0D5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1828800"/>
            <a:ext cx="38100" cy="36576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71600" y="5394960"/>
            <a:ext cx="2286000" cy="508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5394960"/>
            <a:ext cx="2286000" cy="508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0" y="5212080"/>
            <a:ext cx="914400" cy="508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0" y="4114800"/>
            <a:ext cx="914400" cy="508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3200400"/>
            <a:ext cx="914400" cy="508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0" y="2560320"/>
            <a:ext cx="914400" cy="508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0" y="2103120"/>
            <a:ext cx="914400" cy="508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2011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10"/>
                </a:solidFill>
              </a:defRPr>
            </a:pPr>
            <a:r>
              <a:t>Healthy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011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4D0A"/>
                </a:solidFill>
              </a:defRPr>
            </a:pPr>
            <a:r>
              <a:t>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011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13438"/>
                </a:solidFill>
              </a:defRPr>
            </a:pPr>
            <a:r>
              <a:t>Throttled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00400"/>
            <a:ext cx="45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D5A4C"/>
                </a:solidFill>
              </a:defRPr>
            </a:pPr>
            <a:r>
              <a:t>Delay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943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D5A4C"/>
                </a:solidFill>
              </a:defRPr>
            </a:pPr>
            <a:r>
              <a:t>Utilization %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2286000"/>
            <a:ext cx="1218895" cy="1218895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23130"/>
                </a:solidFill>
              </a:defRPr>
            </a:pPr>
            <a:r>
              <a:t>Capacity Management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Capacity Metrics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Your visibility into capacity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Free app from Microsoft AppSource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Shows CU utilization over time (last 14 days)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Breaks down Interactive vs Background usage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Identifies top consuming workloads and items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Shows throttling events and their impact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Essential for capacity planning and 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7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4572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⚡ Capacity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286000"/>
            <a:ext cx="2286000" cy="13716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2286000"/>
            <a:ext cx="2286000" cy="13716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3840480"/>
            <a:ext cx="4846320" cy="164592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3108960"/>
            <a:ext cx="228600" cy="4572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0" y="3200400"/>
            <a:ext cx="228600" cy="2743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2971800"/>
            <a:ext cx="228600" cy="54864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3200400"/>
            <a:ext cx="228600" cy="2743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0" y="2834640"/>
            <a:ext cx="228600" cy="64008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0" y="3200400"/>
            <a:ext cx="228600" cy="2743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2697480"/>
            <a:ext cx="228600" cy="73152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24159" y="3200400"/>
            <a:ext cx="228600" cy="2743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560320"/>
            <a:ext cx="228600" cy="82296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789919" y="3200400"/>
            <a:ext cx="228600" cy="2743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4754880"/>
            <a:ext cx="457200" cy="36576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0" y="5120640"/>
            <a:ext cx="45720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0" y="4754880"/>
            <a:ext cx="457200" cy="36576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0" y="5120640"/>
            <a:ext cx="45720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4754880"/>
            <a:ext cx="457200" cy="36576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21040" y="5120640"/>
            <a:ext cx="45720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52560" y="4754880"/>
            <a:ext cx="457200" cy="36576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5120640"/>
            <a:ext cx="45720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84080" y="4754880"/>
            <a:ext cx="457200" cy="36576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84080" y="5120640"/>
            <a:ext cx="45720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15600" y="4754880"/>
            <a:ext cx="457200" cy="36576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15600" y="5120640"/>
            <a:ext cx="45720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852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78D4"/>
                </a:solidFill>
              </a:defRPr>
            </a:pPr>
            <a:r>
              <a:t>📥 Free in Microsoft AppSource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Autoscale: Automatic Capacity Adjustment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Let Azure scale your capacity based on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Automatically increases capacity when utilization is high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Scales back down when demand decreases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Configure maximum CU cap to control costs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Helps prevent throttling during peak usage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</a:defRPr>
            </a:pPr>
            <a:r>
              <a:t>Billed only for what you use (per-second billing)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828800"/>
            <a:ext cx="5486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5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0" y="4114800"/>
            <a:ext cx="1371600" cy="508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3200400"/>
            <a:ext cx="2286000" cy="508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0" y="4114800"/>
            <a:ext cx="1371600" cy="508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79" y="3200400"/>
            <a:ext cx="50800" cy="9144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84080" y="3200400"/>
            <a:ext cx="50800" cy="9144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474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07C10"/>
                </a:solidFill>
              </a:defRPr>
            </a:pPr>
            <a:r>
              <a:t>↑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6576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84D0A"/>
                </a:solidFill>
              </a:defRPr>
            </a:pPr>
            <a:r>
              <a:t>↓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17865"/>
                </a:solidFill>
              </a:defRPr>
            </a:pPr>
            <a:r>
              <a:t>F64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17865"/>
                </a:solidFill>
              </a:defRPr>
            </a:pPr>
            <a:r>
              <a:t>F128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4297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17865"/>
                </a:solidFill>
              </a:defRPr>
            </a:pPr>
            <a:r>
              <a:t>F64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120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D5A4C"/>
                </a:solidFill>
              </a:defRPr>
            </a:pPr>
            <a:r>
              <a:t>Time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5303520"/>
            <a:ext cx="548640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53492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7C10"/>
                </a:solidFill>
              </a:defRPr>
            </a:pPr>
            <a:r>
              <a:t>💡 Set max CU cap to prevent runaway costs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Capacity Reservations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5A4C"/>
                </a:solidFill>
              </a:defRPr>
            </a:pPr>
            <a:r>
              <a:t>Guaranteed capacity for critical workloads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13438"/>
                </a:solidFill>
              </a:defRPr>
            </a:pPr>
            <a:r>
              <a:t>Without Reservation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4389120" cy="18288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17865"/>
                </a:solidFill>
              </a:defRPr>
            </a:pPr>
            <a:r>
              <a:t>Shared Pool (64 CU)</a:t>
            </a:r>
            <a:br/>
            <a:r>
              <a:t>All users compete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👤 👤 👤 👤  First-come, first-served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3035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7C10"/>
                </a:solidFill>
              </a:defRPr>
            </a:pPr>
            <a:r>
              <a:t>With Reservation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560320"/>
            <a:ext cx="1645920" cy="1828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D4"/>
                </a:solidFill>
              </a:defRPr>
            </a:pPr>
            <a:r>
              <a:t>Reserved</a:t>
            </a:r>
            <a:br/>
            <a:r>
              <a:t>16 CU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560320"/>
            <a:ext cx="2743200" cy="18288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7865"/>
                </a:solidFill>
              </a:defRPr>
            </a:pPr>
            <a:r>
              <a:t>Shared Pool</a:t>
            </a:r>
            <a:br/>
            <a:r>
              <a:t>48 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👤 Protected    👤 👤 👤 Shared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5A4C"/>
                </a:solidFill>
              </a:defRPr>
            </a:pPr>
            <a:r>
              <a:t>💡 Use reservations for critical reporting workloads that must never be throttled</a:t>
            </a:r>
          </a:p>
        </p:txBody>
      </p:sp>
    </p:spTree>
  </p:cSld>
  <p:clrMapOvr>
    <a:masterClrMapping/>
  </p:clrMapOvr>
  <p:transition spd="med">
    <p:morph option="byObject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Capacity Management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7865"/>
                </a:solidFill>
              </a:defRPr>
            </a:pPr>
            <a:r>
              <a:t>Monitor regularly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Use Capacity Metrics App to track utilization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7865"/>
                </a:solidFill>
              </a:defRPr>
            </a:pPr>
            <a:r>
              <a:t>Schedule wisely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74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Run background jobs during off-peak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7865"/>
                </a:solidFill>
              </a:defRPr>
            </a:pPr>
            <a:r>
              <a:t>Optimize hot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Identify and tune frequently-run interactive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108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7865"/>
                </a:solidFill>
              </a:defRPr>
            </a:pPr>
            <a:r>
              <a:t>Right-size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Start with F64, scale based on actual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7865"/>
                </a:solidFill>
              </a:defRPr>
            </a:pPr>
            <a:r>
              <a:t>Reserve for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Use reservations for must-run workloads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54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54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7865"/>
                </a:solidFill>
              </a:defRPr>
            </a:pPr>
            <a:r>
              <a:t>Enable autoscale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166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130"/>
                </a:solidFill>
              </a:defRPr>
            </a:pPr>
            <a:r>
              <a:t>Let Azure handle demand spikes automatically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23130"/>
                </a:solidFill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CUs are the fundamental measure — everything consumes capacity units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30-second windows evaluate usage, but smoothing spreads the impact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Interactive (5-min) vs Background (24-hr) — different smoothing, different behaviors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Bursting provides a 10-minute buffer — use it wisely, don't drain it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54880"/>
            <a:ext cx="411480" cy="411480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Throttling delays requests — monitor utilization to stay healthy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577840"/>
            <a:ext cx="411480" cy="411480"/>
          </a:xfrm>
          <a:prstGeom prst="ellipse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Use Metrics App, autoscale, and reservations to manage effectively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743200"/>
          </a:xfrm>
          <a:prstGeom prst="roundRect">
            <a:avLst/>
          </a:prstGeom>
          <a:solidFill>
            <a:srgbClr val="117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7865"/>
                </a:solidFill>
              </a:defRPr>
            </a:pPr>
            <a: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📱 Capacity Metrics App — Microsoft AppSource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📖 Microsoft Fabric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130"/>
                </a:solidFill>
              </a:defRPr>
            </a:pPr>
            <a:r>
              <a:t>🎓 Microsoft Learn: Fabric capacity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