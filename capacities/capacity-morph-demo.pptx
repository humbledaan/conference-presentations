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 CU Grid"/>
          <p:cNvSpPr/>
          <p:nvPr/>
        </p:nvSpPr>
        <p:spPr>
          <a:xfrm>
            <a:off x="3886200" y="2286000"/>
            <a:ext cx="1371600" cy="1371600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solidFill>
                  <a:srgbClr val="323130"/>
                </a:solidFill>
              </a:defRPr>
            </a:pPr>
            <a:r>
              <a:t>Capacity Unit (CU)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57200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23130"/>
                </a:solidFill>
              </a:defRPr>
            </a:pPr>
            <a:r>
              <a:t>A Capacity Unit (CU) is the fundamental unit of compute in Microsoft Fabric.</a:t>
            </a:r>
          </a:p>
          <a:p/>
          <a:p>
            <a:r>
              <a:t>Each operation consumes CUs based on:</a:t>
            </a:r>
          </a:p>
          <a:p>
            <a:r>
              <a:t>• Complexity of the operation</a:t>
            </a:r>
          </a:p>
          <a:p>
            <a:r>
              <a:t>• Resources required (CPU, memory, I/O)</a:t>
            </a:r>
          </a:p>
          <a:p>
            <a:r>
              <a:t>• Duration of execution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p:transition="morph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solidFill>
                  <a:srgbClr val="323130"/>
                </a:solidFill>
              </a:defRPr>
            </a:pPr>
            <a:r>
              <a:t>F64 Capacity = 64 CUs</a:t>
            </a:r>
          </a:p>
        </p:txBody>
      </p:sp>
      <p:sp>
        <p:nvSpPr>
          <p:cNvPr id="3" name="!! CU Grid"/>
          <p:cNvSpPr/>
          <p:nvPr/>
        </p:nvSpPr>
        <p:spPr>
          <a:xfrm>
            <a:off x="1828800" y="1828800"/>
            <a:ext cx="640080" cy="640080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 CU Grid"/>
          <p:cNvSpPr/>
          <p:nvPr/>
        </p:nvSpPr>
        <p:spPr>
          <a:xfrm>
            <a:off x="2560320" y="1828800"/>
            <a:ext cx="640080" cy="640080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 CU Grid"/>
          <p:cNvSpPr/>
          <p:nvPr/>
        </p:nvSpPr>
        <p:spPr>
          <a:xfrm>
            <a:off x="3291840" y="1828800"/>
            <a:ext cx="640080" cy="640080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 CU Grid"/>
          <p:cNvSpPr/>
          <p:nvPr/>
        </p:nvSpPr>
        <p:spPr>
          <a:xfrm>
            <a:off x="4023360" y="1828800"/>
            <a:ext cx="640080" cy="640080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!! CU Grid"/>
          <p:cNvSpPr/>
          <p:nvPr/>
        </p:nvSpPr>
        <p:spPr>
          <a:xfrm>
            <a:off x="4754880" y="1828800"/>
            <a:ext cx="640080" cy="640080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 CU Grid"/>
          <p:cNvSpPr/>
          <p:nvPr/>
        </p:nvSpPr>
        <p:spPr>
          <a:xfrm>
            <a:off x="5486400" y="1828800"/>
            <a:ext cx="640080" cy="640080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 CU Grid"/>
          <p:cNvSpPr/>
          <p:nvPr/>
        </p:nvSpPr>
        <p:spPr>
          <a:xfrm>
            <a:off x="6217920" y="1828800"/>
            <a:ext cx="640080" cy="640080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 CU Grid"/>
          <p:cNvSpPr/>
          <p:nvPr/>
        </p:nvSpPr>
        <p:spPr>
          <a:xfrm>
            <a:off x="6949440" y="1828800"/>
            <a:ext cx="640080" cy="640080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 CU Grid"/>
          <p:cNvSpPr/>
          <p:nvPr/>
        </p:nvSpPr>
        <p:spPr>
          <a:xfrm>
            <a:off x="1828800" y="2560320"/>
            <a:ext cx="640080" cy="640080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 CU Grid"/>
          <p:cNvSpPr/>
          <p:nvPr/>
        </p:nvSpPr>
        <p:spPr>
          <a:xfrm>
            <a:off x="2560320" y="2560320"/>
            <a:ext cx="640080" cy="640080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!! CU Grid"/>
          <p:cNvSpPr/>
          <p:nvPr/>
        </p:nvSpPr>
        <p:spPr>
          <a:xfrm>
            <a:off x="3291840" y="2560320"/>
            <a:ext cx="640080" cy="640080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!! CU Grid"/>
          <p:cNvSpPr/>
          <p:nvPr/>
        </p:nvSpPr>
        <p:spPr>
          <a:xfrm>
            <a:off x="4023360" y="2560320"/>
            <a:ext cx="640080" cy="640080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!! CU Grid"/>
          <p:cNvSpPr/>
          <p:nvPr/>
        </p:nvSpPr>
        <p:spPr>
          <a:xfrm>
            <a:off x="4754880" y="2560320"/>
            <a:ext cx="640080" cy="640080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!! CU Grid"/>
          <p:cNvSpPr/>
          <p:nvPr/>
        </p:nvSpPr>
        <p:spPr>
          <a:xfrm>
            <a:off x="5486400" y="2560320"/>
            <a:ext cx="640080" cy="640080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!! CU Grid"/>
          <p:cNvSpPr/>
          <p:nvPr/>
        </p:nvSpPr>
        <p:spPr>
          <a:xfrm>
            <a:off x="6217920" y="2560320"/>
            <a:ext cx="640080" cy="640080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!! CU Grid"/>
          <p:cNvSpPr/>
          <p:nvPr/>
        </p:nvSpPr>
        <p:spPr>
          <a:xfrm>
            <a:off x="6949440" y="2560320"/>
            <a:ext cx="640080" cy="640080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!! CU Grid"/>
          <p:cNvSpPr/>
          <p:nvPr/>
        </p:nvSpPr>
        <p:spPr>
          <a:xfrm>
            <a:off x="1828800" y="3291840"/>
            <a:ext cx="640080" cy="640080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!! CU Grid"/>
          <p:cNvSpPr/>
          <p:nvPr/>
        </p:nvSpPr>
        <p:spPr>
          <a:xfrm>
            <a:off x="2560320" y="3291840"/>
            <a:ext cx="640080" cy="640080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!! CU Grid"/>
          <p:cNvSpPr/>
          <p:nvPr/>
        </p:nvSpPr>
        <p:spPr>
          <a:xfrm>
            <a:off x="3291840" y="3291840"/>
            <a:ext cx="640080" cy="640080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!! CU Grid"/>
          <p:cNvSpPr/>
          <p:nvPr/>
        </p:nvSpPr>
        <p:spPr>
          <a:xfrm>
            <a:off x="4023360" y="3291840"/>
            <a:ext cx="640080" cy="640080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!! CU Grid"/>
          <p:cNvSpPr/>
          <p:nvPr/>
        </p:nvSpPr>
        <p:spPr>
          <a:xfrm>
            <a:off x="4754880" y="3291840"/>
            <a:ext cx="640080" cy="640080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!! CU Grid"/>
          <p:cNvSpPr/>
          <p:nvPr/>
        </p:nvSpPr>
        <p:spPr>
          <a:xfrm>
            <a:off x="5486400" y="3291840"/>
            <a:ext cx="640080" cy="640080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!! CU Grid"/>
          <p:cNvSpPr/>
          <p:nvPr/>
        </p:nvSpPr>
        <p:spPr>
          <a:xfrm>
            <a:off x="6217920" y="3291840"/>
            <a:ext cx="640080" cy="640080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!! CU Grid"/>
          <p:cNvSpPr/>
          <p:nvPr/>
        </p:nvSpPr>
        <p:spPr>
          <a:xfrm>
            <a:off x="6949440" y="3291840"/>
            <a:ext cx="640080" cy="640080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!! CU Grid"/>
          <p:cNvSpPr/>
          <p:nvPr/>
        </p:nvSpPr>
        <p:spPr>
          <a:xfrm>
            <a:off x="1828800" y="4023360"/>
            <a:ext cx="640080" cy="640080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!! CU Grid"/>
          <p:cNvSpPr/>
          <p:nvPr/>
        </p:nvSpPr>
        <p:spPr>
          <a:xfrm>
            <a:off x="2560320" y="4023360"/>
            <a:ext cx="640080" cy="640080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!! CU Grid"/>
          <p:cNvSpPr/>
          <p:nvPr/>
        </p:nvSpPr>
        <p:spPr>
          <a:xfrm>
            <a:off x="3291840" y="4023360"/>
            <a:ext cx="640080" cy="640080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!! CU Grid"/>
          <p:cNvSpPr/>
          <p:nvPr/>
        </p:nvSpPr>
        <p:spPr>
          <a:xfrm>
            <a:off x="4023360" y="4023360"/>
            <a:ext cx="640080" cy="640080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!! CU Grid"/>
          <p:cNvSpPr/>
          <p:nvPr/>
        </p:nvSpPr>
        <p:spPr>
          <a:xfrm>
            <a:off x="4754880" y="4023360"/>
            <a:ext cx="640080" cy="640080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!! CU Grid"/>
          <p:cNvSpPr/>
          <p:nvPr/>
        </p:nvSpPr>
        <p:spPr>
          <a:xfrm>
            <a:off x="5486400" y="4023360"/>
            <a:ext cx="640080" cy="640080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!! CU Grid"/>
          <p:cNvSpPr/>
          <p:nvPr/>
        </p:nvSpPr>
        <p:spPr>
          <a:xfrm>
            <a:off x="6217920" y="4023360"/>
            <a:ext cx="640080" cy="640080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!! CU Grid"/>
          <p:cNvSpPr/>
          <p:nvPr/>
        </p:nvSpPr>
        <p:spPr>
          <a:xfrm>
            <a:off x="6949440" y="4023360"/>
            <a:ext cx="640080" cy="640080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!! CU Grid"/>
          <p:cNvSpPr/>
          <p:nvPr/>
        </p:nvSpPr>
        <p:spPr>
          <a:xfrm>
            <a:off x="1828800" y="4754880"/>
            <a:ext cx="640080" cy="640080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!! CU Grid"/>
          <p:cNvSpPr/>
          <p:nvPr/>
        </p:nvSpPr>
        <p:spPr>
          <a:xfrm>
            <a:off x="2560320" y="4754880"/>
            <a:ext cx="640080" cy="640080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!! CU Grid"/>
          <p:cNvSpPr/>
          <p:nvPr/>
        </p:nvSpPr>
        <p:spPr>
          <a:xfrm>
            <a:off x="3291840" y="4754880"/>
            <a:ext cx="640080" cy="640080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!! CU Grid"/>
          <p:cNvSpPr/>
          <p:nvPr/>
        </p:nvSpPr>
        <p:spPr>
          <a:xfrm>
            <a:off x="4023360" y="4754880"/>
            <a:ext cx="640080" cy="640080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!! CU Grid"/>
          <p:cNvSpPr/>
          <p:nvPr/>
        </p:nvSpPr>
        <p:spPr>
          <a:xfrm>
            <a:off x="4754880" y="4754880"/>
            <a:ext cx="640080" cy="640080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!! CU Grid"/>
          <p:cNvSpPr/>
          <p:nvPr/>
        </p:nvSpPr>
        <p:spPr>
          <a:xfrm>
            <a:off x="5486400" y="4754880"/>
            <a:ext cx="640080" cy="640080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!! CU Grid"/>
          <p:cNvSpPr/>
          <p:nvPr/>
        </p:nvSpPr>
        <p:spPr>
          <a:xfrm>
            <a:off x="6217920" y="4754880"/>
            <a:ext cx="640080" cy="640080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!! CU Grid"/>
          <p:cNvSpPr/>
          <p:nvPr/>
        </p:nvSpPr>
        <p:spPr>
          <a:xfrm>
            <a:off x="6949440" y="4754880"/>
            <a:ext cx="640080" cy="640080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!! CU Grid"/>
          <p:cNvSpPr/>
          <p:nvPr/>
        </p:nvSpPr>
        <p:spPr>
          <a:xfrm>
            <a:off x="1828800" y="5486400"/>
            <a:ext cx="640080" cy="640080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!! CU Grid"/>
          <p:cNvSpPr/>
          <p:nvPr/>
        </p:nvSpPr>
        <p:spPr>
          <a:xfrm>
            <a:off x="2560320" y="5486400"/>
            <a:ext cx="640080" cy="640080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!! CU Grid"/>
          <p:cNvSpPr/>
          <p:nvPr/>
        </p:nvSpPr>
        <p:spPr>
          <a:xfrm>
            <a:off x="3291840" y="5486400"/>
            <a:ext cx="640080" cy="640080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!! CU Grid"/>
          <p:cNvSpPr/>
          <p:nvPr/>
        </p:nvSpPr>
        <p:spPr>
          <a:xfrm>
            <a:off x="4023360" y="5486400"/>
            <a:ext cx="640080" cy="640080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!! CU Grid"/>
          <p:cNvSpPr/>
          <p:nvPr/>
        </p:nvSpPr>
        <p:spPr>
          <a:xfrm>
            <a:off x="4754880" y="5486400"/>
            <a:ext cx="640080" cy="640080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!! CU Grid"/>
          <p:cNvSpPr/>
          <p:nvPr/>
        </p:nvSpPr>
        <p:spPr>
          <a:xfrm>
            <a:off x="5486400" y="5486400"/>
            <a:ext cx="640080" cy="640080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!! CU Grid"/>
          <p:cNvSpPr/>
          <p:nvPr/>
        </p:nvSpPr>
        <p:spPr>
          <a:xfrm>
            <a:off x="6217920" y="5486400"/>
            <a:ext cx="640080" cy="640080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!! CU Grid"/>
          <p:cNvSpPr/>
          <p:nvPr/>
        </p:nvSpPr>
        <p:spPr>
          <a:xfrm>
            <a:off x="6949440" y="5486400"/>
            <a:ext cx="640080" cy="640080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!! CU Grid"/>
          <p:cNvSpPr/>
          <p:nvPr/>
        </p:nvSpPr>
        <p:spPr>
          <a:xfrm>
            <a:off x="1828800" y="6217920"/>
            <a:ext cx="640080" cy="640080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!! CU Grid"/>
          <p:cNvSpPr/>
          <p:nvPr/>
        </p:nvSpPr>
        <p:spPr>
          <a:xfrm>
            <a:off x="2560320" y="6217920"/>
            <a:ext cx="640080" cy="640080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!! CU Grid"/>
          <p:cNvSpPr/>
          <p:nvPr/>
        </p:nvSpPr>
        <p:spPr>
          <a:xfrm>
            <a:off x="3291840" y="6217920"/>
            <a:ext cx="640080" cy="640080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!! CU Grid"/>
          <p:cNvSpPr/>
          <p:nvPr/>
        </p:nvSpPr>
        <p:spPr>
          <a:xfrm>
            <a:off x="4023360" y="6217920"/>
            <a:ext cx="640080" cy="640080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!! CU Grid"/>
          <p:cNvSpPr/>
          <p:nvPr/>
        </p:nvSpPr>
        <p:spPr>
          <a:xfrm>
            <a:off x="4754880" y="6217920"/>
            <a:ext cx="640080" cy="640080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!! CU Grid"/>
          <p:cNvSpPr/>
          <p:nvPr/>
        </p:nvSpPr>
        <p:spPr>
          <a:xfrm>
            <a:off x="5486400" y="6217920"/>
            <a:ext cx="640080" cy="640080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!! CU Grid"/>
          <p:cNvSpPr/>
          <p:nvPr/>
        </p:nvSpPr>
        <p:spPr>
          <a:xfrm>
            <a:off x="6217920" y="6217920"/>
            <a:ext cx="640080" cy="640080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!! CU Grid"/>
          <p:cNvSpPr/>
          <p:nvPr/>
        </p:nvSpPr>
        <p:spPr>
          <a:xfrm>
            <a:off x="6949440" y="6217920"/>
            <a:ext cx="640080" cy="640080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!! CU Grid"/>
          <p:cNvSpPr/>
          <p:nvPr/>
        </p:nvSpPr>
        <p:spPr>
          <a:xfrm>
            <a:off x="1828800" y="6949440"/>
            <a:ext cx="640080" cy="640080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!! CU Grid"/>
          <p:cNvSpPr/>
          <p:nvPr/>
        </p:nvSpPr>
        <p:spPr>
          <a:xfrm>
            <a:off x="2560320" y="6949440"/>
            <a:ext cx="640080" cy="640080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!! CU Grid"/>
          <p:cNvSpPr/>
          <p:nvPr/>
        </p:nvSpPr>
        <p:spPr>
          <a:xfrm>
            <a:off x="3291840" y="6949440"/>
            <a:ext cx="640080" cy="640080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!! CU Grid"/>
          <p:cNvSpPr/>
          <p:nvPr/>
        </p:nvSpPr>
        <p:spPr>
          <a:xfrm>
            <a:off x="4023360" y="6949440"/>
            <a:ext cx="640080" cy="640080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!! CU Grid"/>
          <p:cNvSpPr/>
          <p:nvPr/>
        </p:nvSpPr>
        <p:spPr>
          <a:xfrm>
            <a:off x="4754880" y="6949440"/>
            <a:ext cx="640080" cy="640080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!! CU Grid"/>
          <p:cNvSpPr/>
          <p:nvPr/>
        </p:nvSpPr>
        <p:spPr>
          <a:xfrm>
            <a:off x="5486400" y="6949440"/>
            <a:ext cx="640080" cy="640080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!! CU Grid"/>
          <p:cNvSpPr/>
          <p:nvPr/>
        </p:nvSpPr>
        <p:spPr>
          <a:xfrm>
            <a:off x="6217920" y="6949440"/>
            <a:ext cx="640080" cy="640080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!! CU Grid"/>
          <p:cNvSpPr/>
          <p:nvPr/>
        </p:nvSpPr>
        <p:spPr>
          <a:xfrm>
            <a:off x="6949440" y="6949440"/>
            <a:ext cx="640080" cy="640080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286000" y="59436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23130"/>
                </a:solidFill>
              </a:defRPr>
            </a:pPr>
            <a:r>
              <a:t>8 × 8 = 64 Capacity Units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p:transition="morph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solidFill>
                  <a:srgbClr val="323130"/>
                </a:solidFill>
              </a:defRPr>
            </a:pPr>
            <a:r>
              <a:t>One Second of F64 Capacity</a:t>
            </a:r>
          </a:p>
        </p:txBody>
      </p:sp>
      <p:sp>
        <p:nvSpPr>
          <p:cNvPr id="3" name="!! CU Grid"/>
          <p:cNvSpPr/>
          <p:nvPr/>
        </p:nvSpPr>
        <p:spPr>
          <a:xfrm>
            <a:off x="4343400" y="1371600"/>
            <a:ext cx="457200" cy="73152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 CU Grid"/>
          <p:cNvSpPr/>
          <p:nvPr/>
        </p:nvSpPr>
        <p:spPr>
          <a:xfrm>
            <a:off x="4343400" y="1444752"/>
            <a:ext cx="457200" cy="73152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 CU Grid"/>
          <p:cNvSpPr/>
          <p:nvPr/>
        </p:nvSpPr>
        <p:spPr>
          <a:xfrm>
            <a:off x="4343400" y="1517904"/>
            <a:ext cx="457200" cy="73152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 CU Grid"/>
          <p:cNvSpPr/>
          <p:nvPr/>
        </p:nvSpPr>
        <p:spPr>
          <a:xfrm>
            <a:off x="4343400" y="1591056"/>
            <a:ext cx="457200" cy="73152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!! CU Grid"/>
          <p:cNvSpPr/>
          <p:nvPr/>
        </p:nvSpPr>
        <p:spPr>
          <a:xfrm>
            <a:off x="4343400" y="1664208"/>
            <a:ext cx="457200" cy="73152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 CU Grid"/>
          <p:cNvSpPr/>
          <p:nvPr/>
        </p:nvSpPr>
        <p:spPr>
          <a:xfrm>
            <a:off x="4343400" y="1737360"/>
            <a:ext cx="457200" cy="73152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 CU Grid"/>
          <p:cNvSpPr/>
          <p:nvPr/>
        </p:nvSpPr>
        <p:spPr>
          <a:xfrm>
            <a:off x="4343400" y="1810512"/>
            <a:ext cx="457200" cy="73152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 CU Grid"/>
          <p:cNvSpPr/>
          <p:nvPr/>
        </p:nvSpPr>
        <p:spPr>
          <a:xfrm>
            <a:off x="4343400" y="1883664"/>
            <a:ext cx="457200" cy="73152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 CU Grid"/>
          <p:cNvSpPr/>
          <p:nvPr/>
        </p:nvSpPr>
        <p:spPr>
          <a:xfrm>
            <a:off x="4343400" y="1956816"/>
            <a:ext cx="457200" cy="73152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 CU Grid"/>
          <p:cNvSpPr/>
          <p:nvPr/>
        </p:nvSpPr>
        <p:spPr>
          <a:xfrm>
            <a:off x="4343400" y="2029968"/>
            <a:ext cx="457200" cy="73152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!! CU Grid"/>
          <p:cNvSpPr/>
          <p:nvPr/>
        </p:nvSpPr>
        <p:spPr>
          <a:xfrm>
            <a:off x="4343400" y="2103120"/>
            <a:ext cx="457200" cy="73152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!! CU Grid"/>
          <p:cNvSpPr/>
          <p:nvPr/>
        </p:nvSpPr>
        <p:spPr>
          <a:xfrm>
            <a:off x="4343400" y="2176272"/>
            <a:ext cx="457200" cy="73152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!! CU Grid"/>
          <p:cNvSpPr/>
          <p:nvPr/>
        </p:nvSpPr>
        <p:spPr>
          <a:xfrm>
            <a:off x="4343400" y="2249424"/>
            <a:ext cx="457200" cy="73152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!! CU Grid"/>
          <p:cNvSpPr/>
          <p:nvPr/>
        </p:nvSpPr>
        <p:spPr>
          <a:xfrm>
            <a:off x="4343400" y="2322576"/>
            <a:ext cx="457200" cy="73152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!! CU Grid"/>
          <p:cNvSpPr/>
          <p:nvPr/>
        </p:nvSpPr>
        <p:spPr>
          <a:xfrm>
            <a:off x="4343400" y="2395728"/>
            <a:ext cx="457200" cy="73152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!! CU Grid"/>
          <p:cNvSpPr/>
          <p:nvPr/>
        </p:nvSpPr>
        <p:spPr>
          <a:xfrm>
            <a:off x="4343400" y="2468880"/>
            <a:ext cx="457200" cy="73152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!! CU Grid"/>
          <p:cNvSpPr/>
          <p:nvPr/>
        </p:nvSpPr>
        <p:spPr>
          <a:xfrm>
            <a:off x="4343400" y="2542032"/>
            <a:ext cx="457200" cy="73152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!! CU Grid"/>
          <p:cNvSpPr/>
          <p:nvPr/>
        </p:nvSpPr>
        <p:spPr>
          <a:xfrm>
            <a:off x="4343400" y="2615184"/>
            <a:ext cx="457200" cy="73152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!! CU Grid"/>
          <p:cNvSpPr/>
          <p:nvPr/>
        </p:nvSpPr>
        <p:spPr>
          <a:xfrm>
            <a:off x="4343400" y="2688336"/>
            <a:ext cx="457200" cy="73152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!! CU Grid"/>
          <p:cNvSpPr/>
          <p:nvPr/>
        </p:nvSpPr>
        <p:spPr>
          <a:xfrm>
            <a:off x="4343400" y="2761488"/>
            <a:ext cx="457200" cy="73152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!! CU Grid"/>
          <p:cNvSpPr/>
          <p:nvPr/>
        </p:nvSpPr>
        <p:spPr>
          <a:xfrm>
            <a:off x="4343400" y="2834640"/>
            <a:ext cx="457200" cy="73152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!! CU Grid"/>
          <p:cNvSpPr/>
          <p:nvPr/>
        </p:nvSpPr>
        <p:spPr>
          <a:xfrm>
            <a:off x="4343400" y="2907792"/>
            <a:ext cx="457200" cy="73152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!! CU Grid"/>
          <p:cNvSpPr/>
          <p:nvPr/>
        </p:nvSpPr>
        <p:spPr>
          <a:xfrm>
            <a:off x="4343400" y="2980944"/>
            <a:ext cx="457200" cy="73152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!! CU Grid"/>
          <p:cNvSpPr/>
          <p:nvPr/>
        </p:nvSpPr>
        <p:spPr>
          <a:xfrm>
            <a:off x="4343400" y="3054096"/>
            <a:ext cx="457200" cy="73152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!! CU Grid"/>
          <p:cNvSpPr/>
          <p:nvPr/>
        </p:nvSpPr>
        <p:spPr>
          <a:xfrm>
            <a:off x="4343400" y="3127248"/>
            <a:ext cx="457200" cy="73152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!! CU Grid"/>
          <p:cNvSpPr/>
          <p:nvPr/>
        </p:nvSpPr>
        <p:spPr>
          <a:xfrm>
            <a:off x="4343400" y="3200400"/>
            <a:ext cx="457200" cy="73152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!! CU Grid"/>
          <p:cNvSpPr/>
          <p:nvPr/>
        </p:nvSpPr>
        <p:spPr>
          <a:xfrm>
            <a:off x="4343400" y="3273552"/>
            <a:ext cx="457200" cy="73152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!! CU Grid"/>
          <p:cNvSpPr/>
          <p:nvPr/>
        </p:nvSpPr>
        <p:spPr>
          <a:xfrm>
            <a:off x="4343400" y="3346704"/>
            <a:ext cx="457200" cy="73152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!! CU Grid"/>
          <p:cNvSpPr/>
          <p:nvPr/>
        </p:nvSpPr>
        <p:spPr>
          <a:xfrm>
            <a:off x="4343400" y="3419856"/>
            <a:ext cx="457200" cy="73152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!! CU Grid"/>
          <p:cNvSpPr/>
          <p:nvPr/>
        </p:nvSpPr>
        <p:spPr>
          <a:xfrm>
            <a:off x="4343400" y="3493008"/>
            <a:ext cx="457200" cy="73152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!! CU Grid"/>
          <p:cNvSpPr/>
          <p:nvPr/>
        </p:nvSpPr>
        <p:spPr>
          <a:xfrm>
            <a:off x="4343400" y="3566160"/>
            <a:ext cx="457200" cy="73152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!! CU Grid"/>
          <p:cNvSpPr/>
          <p:nvPr/>
        </p:nvSpPr>
        <p:spPr>
          <a:xfrm>
            <a:off x="4343400" y="3639312"/>
            <a:ext cx="457200" cy="73152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!! CU Grid"/>
          <p:cNvSpPr/>
          <p:nvPr/>
        </p:nvSpPr>
        <p:spPr>
          <a:xfrm>
            <a:off x="4343400" y="3712464"/>
            <a:ext cx="457200" cy="73152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!! CU Grid"/>
          <p:cNvSpPr/>
          <p:nvPr/>
        </p:nvSpPr>
        <p:spPr>
          <a:xfrm>
            <a:off x="4343400" y="3785616"/>
            <a:ext cx="457200" cy="73152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!! CU Grid"/>
          <p:cNvSpPr/>
          <p:nvPr/>
        </p:nvSpPr>
        <p:spPr>
          <a:xfrm>
            <a:off x="4343400" y="3858768"/>
            <a:ext cx="457200" cy="73152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!! CU Grid"/>
          <p:cNvSpPr/>
          <p:nvPr/>
        </p:nvSpPr>
        <p:spPr>
          <a:xfrm>
            <a:off x="4343400" y="3931920"/>
            <a:ext cx="457200" cy="73152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!! CU Grid"/>
          <p:cNvSpPr/>
          <p:nvPr/>
        </p:nvSpPr>
        <p:spPr>
          <a:xfrm>
            <a:off x="4343400" y="4005072"/>
            <a:ext cx="457200" cy="73152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!! CU Grid"/>
          <p:cNvSpPr/>
          <p:nvPr/>
        </p:nvSpPr>
        <p:spPr>
          <a:xfrm>
            <a:off x="4343400" y="4078224"/>
            <a:ext cx="457200" cy="73152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!! CU Grid"/>
          <p:cNvSpPr/>
          <p:nvPr/>
        </p:nvSpPr>
        <p:spPr>
          <a:xfrm>
            <a:off x="4343400" y="4151376"/>
            <a:ext cx="457200" cy="73152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!! CU Grid"/>
          <p:cNvSpPr/>
          <p:nvPr/>
        </p:nvSpPr>
        <p:spPr>
          <a:xfrm>
            <a:off x="4343400" y="4224528"/>
            <a:ext cx="457200" cy="73152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!! CU Grid"/>
          <p:cNvSpPr/>
          <p:nvPr/>
        </p:nvSpPr>
        <p:spPr>
          <a:xfrm>
            <a:off x="4343400" y="4297680"/>
            <a:ext cx="457200" cy="73152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!! CU Grid"/>
          <p:cNvSpPr/>
          <p:nvPr/>
        </p:nvSpPr>
        <p:spPr>
          <a:xfrm>
            <a:off x="4343400" y="4370832"/>
            <a:ext cx="457200" cy="73152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!! CU Grid"/>
          <p:cNvSpPr/>
          <p:nvPr/>
        </p:nvSpPr>
        <p:spPr>
          <a:xfrm>
            <a:off x="4343400" y="4443984"/>
            <a:ext cx="457200" cy="73152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!! CU Grid"/>
          <p:cNvSpPr/>
          <p:nvPr/>
        </p:nvSpPr>
        <p:spPr>
          <a:xfrm>
            <a:off x="4343400" y="4517136"/>
            <a:ext cx="457200" cy="73152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!! CU Grid"/>
          <p:cNvSpPr/>
          <p:nvPr/>
        </p:nvSpPr>
        <p:spPr>
          <a:xfrm>
            <a:off x="4343400" y="4590288"/>
            <a:ext cx="457200" cy="73152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!! CU Grid"/>
          <p:cNvSpPr/>
          <p:nvPr/>
        </p:nvSpPr>
        <p:spPr>
          <a:xfrm>
            <a:off x="4343400" y="4663440"/>
            <a:ext cx="457200" cy="73152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!! CU Grid"/>
          <p:cNvSpPr/>
          <p:nvPr/>
        </p:nvSpPr>
        <p:spPr>
          <a:xfrm>
            <a:off x="4343400" y="4736592"/>
            <a:ext cx="457200" cy="73152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!! CU Grid"/>
          <p:cNvSpPr/>
          <p:nvPr/>
        </p:nvSpPr>
        <p:spPr>
          <a:xfrm>
            <a:off x="4343400" y="4809744"/>
            <a:ext cx="457200" cy="73152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!! CU Grid"/>
          <p:cNvSpPr/>
          <p:nvPr/>
        </p:nvSpPr>
        <p:spPr>
          <a:xfrm>
            <a:off x="4343400" y="4882896"/>
            <a:ext cx="457200" cy="73152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!! CU Grid"/>
          <p:cNvSpPr/>
          <p:nvPr/>
        </p:nvSpPr>
        <p:spPr>
          <a:xfrm>
            <a:off x="4343400" y="4956048"/>
            <a:ext cx="457200" cy="73152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!! CU Grid"/>
          <p:cNvSpPr/>
          <p:nvPr/>
        </p:nvSpPr>
        <p:spPr>
          <a:xfrm>
            <a:off x="4343400" y="5029200"/>
            <a:ext cx="457200" cy="73152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!! CU Grid"/>
          <p:cNvSpPr/>
          <p:nvPr/>
        </p:nvSpPr>
        <p:spPr>
          <a:xfrm>
            <a:off x="4343400" y="5102352"/>
            <a:ext cx="457200" cy="73152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!! CU Grid"/>
          <p:cNvSpPr/>
          <p:nvPr/>
        </p:nvSpPr>
        <p:spPr>
          <a:xfrm>
            <a:off x="4343400" y="5175504"/>
            <a:ext cx="457200" cy="73152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!! CU Grid"/>
          <p:cNvSpPr/>
          <p:nvPr/>
        </p:nvSpPr>
        <p:spPr>
          <a:xfrm>
            <a:off x="4343400" y="5248656"/>
            <a:ext cx="457200" cy="73152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!! CU Grid"/>
          <p:cNvSpPr/>
          <p:nvPr/>
        </p:nvSpPr>
        <p:spPr>
          <a:xfrm>
            <a:off x="4343400" y="5321808"/>
            <a:ext cx="457200" cy="73152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!! CU Grid"/>
          <p:cNvSpPr/>
          <p:nvPr/>
        </p:nvSpPr>
        <p:spPr>
          <a:xfrm>
            <a:off x="4343400" y="5394960"/>
            <a:ext cx="457200" cy="73152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!! CU Grid"/>
          <p:cNvSpPr/>
          <p:nvPr/>
        </p:nvSpPr>
        <p:spPr>
          <a:xfrm>
            <a:off x="4343400" y="5468112"/>
            <a:ext cx="457200" cy="73152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!! CU Grid"/>
          <p:cNvSpPr/>
          <p:nvPr/>
        </p:nvSpPr>
        <p:spPr>
          <a:xfrm>
            <a:off x="4343400" y="5541264"/>
            <a:ext cx="457200" cy="73152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!! CU Grid"/>
          <p:cNvSpPr/>
          <p:nvPr/>
        </p:nvSpPr>
        <p:spPr>
          <a:xfrm>
            <a:off x="4343400" y="5614416"/>
            <a:ext cx="457200" cy="73152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!! CU Grid"/>
          <p:cNvSpPr/>
          <p:nvPr/>
        </p:nvSpPr>
        <p:spPr>
          <a:xfrm>
            <a:off x="4343400" y="5687568"/>
            <a:ext cx="457200" cy="73152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!! CU Grid"/>
          <p:cNvSpPr/>
          <p:nvPr/>
        </p:nvSpPr>
        <p:spPr>
          <a:xfrm>
            <a:off x="4343400" y="5760720"/>
            <a:ext cx="457200" cy="73152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!! CU Grid"/>
          <p:cNvSpPr/>
          <p:nvPr/>
        </p:nvSpPr>
        <p:spPr>
          <a:xfrm>
            <a:off x="4343400" y="5833872"/>
            <a:ext cx="457200" cy="73152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!! CU Grid"/>
          <p:cNvSpPr/>
          <p:nvPr/>
        </p:nvSpPr>
        <p:spPr>
          <a:xfrm>
            <a:off x="4343400" y="5907024"/>
            <a:ext cx="457200" cy="73152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!! CU Grid"/>
          <p:cNvSpPr/>
          <p:nvPr/>
        </p:nvSpPr>
        <p:spPr>
          <a:xfrm>
            <a:off x="4343400" y="5980176"/>
            <a:ext cx="457200" cy="73152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14400" y="59436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23130"/>
                </a:solidFill>
              </a:defRPr>
            </a:pPr>
            <a:r>
              <a:t>64 CUs stacked vertically</a:t>
            </a:r>
          </a:p>
          <a:p>
            <a:r>
              <a:t>represents 1 second of capacity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p:transition="morph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solidFill>
                  <a:srgbClr val="323130"/>
                </a:solidFill>
              </a:defRPr>
            </a:pPr>
            <a:r>
              <a:t>30-Second Evaluation Window</a:t>
            </a:r>
          </a:p>
        </p:txBody>
      </p:sp>
      <p:sp>
        <p:nvSpPr>
          <p:cNvPr id="3" name="!! CU Grid"/>
          <p:cNvSpPr/>
          <p:nvPr/>
        </p:nvSpPr>
        <p:spPr>
          <a:xfrm>
            <a:off x="731520" y="1371600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 CU Grid"/>
          <p:cNvSpPr/>
          <p:nvPr/>
        </p:nvSpPr>
        <p:spPr>
          <a:xfrm>
            <a:off x="731520" y="1627632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 CU Grid"/>
          <p:cNvSpPr/>
          <p:nvPr/>
        </p:nvSpPr>
        <p:spPr>
          <a:xfrm>
            <a:off x="731520" y="1883664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 CU Grid"/>
          <p:cNvSpPr/>
          <p:nvPr/>
        </p:nvSpPr>
        <p:spPr>
          <a:xfrm>
            <a:off x="731520" y="2139696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!! CU Grid"/>
          <p:cNvSpPr/>
          <p:nvPr/>
        </p:nvSpPr>
        <p:spPr>
          <a:xfrm>
            <a:off x="731520" y="2395728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 CU Grid"/>
          <p:cNvSpPr/>
          <p:nvPr/>
        </p:nvSpPr>
        <p:spPr>
          <a:xfrm>
            <a:off x="731520" y="2651760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 CU Grid"/>
          <p:cNvSpPr/>
          <p:nvPr/>
        </p:nvSpPr>
        <p:spPr>
          <a:xfrm>
            <a:off x="731520" y="2907792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 CU Grid"/>
          <p:cNvSpPr/>
          <p:nvPr/>
        </p:nvSpPr>
        <p:spPr>
          <a:xfrm>
            <a:off x="731520" y="3163824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 CU Grid"/>
          <p:cNvSpPr/>
          <p:nvPr/>
        </p:nvSpPr>
        <p:spPr>
          <a:xfrm>
            <a:off x="731520" y="3419856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 CU Grid"/>
          <p:cNvSpPr/>
          <p:nvPr/>
        </p:nvSpPr>
        <p:spPr>
          <a:xfrm>
            <a:off x="731520" y="3675888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!! CU Grid"/>
          <p:cNvSpPr/>
          <p:nvPr/>
        </p:nvSpPr>
        <p:spPr>
          <a:xfrm>
            <a:off x="731520" y="3931920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!! CU Grid"/>
          <p:cNvSpPr/>
          <p:nvPr/>
        </p:nvSpPr>
        <p:spPr>
          <a:xfrm>
            <a:off x="731520" y="4187952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!! CU Grid"/>
          <p:cNvSpPr/>
          <p:nvPr/>
        </p:nvSpPr>
        <p:spPr>
          <a:xfrm>
            <a:off x="731520" y="4443984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!! CU Grid"/>
          <p:cNvSpPr/>
          <p:nvPr/>
        </p:nvSpPr>
        <p:spPr>
          <a:xfrm>
            <a:off x="731520" y="4700016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!! CU Grid"/>
          <p:cNvSpPr/>
          <p:nvPr/>
        </p:nvSpPr>
        <p:spPr>
          <a:xfrm>
            <a:off x="731520" y="4956048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!! CU Grid"/>
          <p:cNvSpPr/>
          <p:nvPr/>
        </p:nvSpPr>
        <p:spPr>
          <a:xfrm>
            <a:off x="731520" y="5212080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!! CU Grid"/>
          <p:cNvSpPr/>
          <p:nvPr/>
        </p:nvSpPr>
        <p:spPr>
          <a:xfrm>
            <a:off x="1417320" y="1371600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!! CU Grid"/>
          <p:cNvSpPr/>
          <p:nvPr/>
        </p:nvSpPr>
        <p:spPr>
          <a:xfrm>
            <a:off x="1417320" y="1627632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!! CU Grid"/>
          <p:cNvSpPr/>
          <p:nvPr/>
        </p:nvSpPr>
        <p:spPr>
          <a:xfrm>
            <a:off x="1417320" y="1883664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!! CU Grid"/>
          <p:cNvSpPr/>
          <p:nvPr/>
        </p:nvSpPr>
        <p:spPr>
          <a:xfrm>
            <a:off x="1417320" y="2139696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!! CU Grid"/>
          <p:cNvSpPr/>
          <p:nvPr/>
        </p:nvSpPr>
        <p:spPr>
          <a:xfrm>
            <a:off x="1417320" y="2395728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!! CU Grid"/>
          <p:cNvSpPr/>
          <p:nvPr/>
        </p:nvSpPr>
        <p:spPr>
          <a:xfrm>
            <a:off x="1417320" y="2651760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!! CU Grid"/>
          <p:cNvSpPr/>
          <p:nvPr/>
        </p:nvSpPr>
        <p:spPr>
          <a:xfrm>
            <a:off x="1417320" y="2907792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!! CU Grid"/>
          <p:cNvSpPr/>
          <p:nvPr/>
        </p:nvSpPr>
        <p:spPr>
          <a:xfrm>
            <a:off x="1417320" y="3163824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!! CU Grid"/>
          <p:cNvSpPr/>
          <p:nvPr/>
        </p:nvSpPr>
        <p:spPr>
          <a:xfrm>
            <a:off x="1417320" y="3419856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!! CU Grid"/>
          <p:cNvSpPr/>
          <p:nvPr/>
        </p:nvSpPr>
        <p:spPr>
          <a:xfrm>
            <a:off x="1417320" y="3675888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!! CU Grid"/>
          <p:cNvSpPr/>
          <p:nvPr/>
        </p:nvSpPr>
        <p:spPr>
          <a:xfrm>
            <a:off x="1417320" y="3931920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!! CU Grid"/>
          <p:cNvSpPr/>
          <p:nvPr/>
        </p:nvSpPr>
        <p:spPr>
          <a:xfrm>
            <a:off x="1417320" y="4187952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!! CU Grid"/>
          <p:cNvSpPr/>
          <p:nvPr/>
        </p:nvSpPr>
        <p:spPr>
          <a:xfrm>
            <a:off x="1417320" y="4443984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!! CU Grid"/>
          <p:cNvSpPr/>
          <p:nvPr/>
        </p:nvSpPr>
        <p:spPr>
          <a:xfrm>
            <a:off x="1417320" y="4700016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!! CU Grid"/>
          <p:cNvSpPr/>
          <p:nvPr/>
        </p:nvSpPr>
        <p:spPr>
          <a:xfrm>
            <a:off x="1417320" y="4956048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!! CU Grid"/>
          <p:cNvSpPr/>
          <p:nvPr/>
        </p:nvSpPr>
        <p:spPr>
          <a:xfrm>
            <a:off x="1417320" y="5212080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!! CU Grid"/>
          <p:cNvSpPr/>
          <p:nvPr/>
        </p:nvSpPr>
        <p:spPr>
          <a:xfrm>
            <a:off x="2103120" y="1371600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!! CU Grid"/>
          <p:cNvSpPr/>
          <p:nvPr/>
        </p:nvSpPr>
        <p:spPr>
          <a:xfrm>
            <a:off x="2103120" y="1627632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!! CU Grid"/>
          <p:cNvSpPr/>
          <p:nvPr/>
        </p:nvSpPr>
        <p:spPr>
          <a:xfrm>
            <a:off x="2103120" y="1883664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!! CU Grid"/>
          <p:cNvSpPr/>
          <p:nvPr/>
        </p:nvSpPr>
        <p:spPr>
          <a:xfrm>
            <a:off x="2103120" y="2139696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!! CU Grid"/>
          <p:cNvSpPr/>
          <p:nvPr/>
        </p:nvSpPr>
        <p:spPr>
          <a:xfrm>
            <a:off x="2103120" y="2395728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!! CU Grid"/>
          <p:cNvSpPr/>
          <p:nvPr/>
        </p:nvSpPr>
        <p:spPr>
          <a:xfrm>
            <a:off x="2103120" y="2651760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!! CU Grid"/>
          <p:cNvSpPr/>
          <p:nvPr/>
        </p:nvSpPr>
        <p:spPr>
          <a:xfrm>
            <a:off x="2103120" y="2907792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!! CU Grid"/>
          <p:cNvSpPr/>
          <p:nvPr/>
        </p:nvSpPr>
        <p:spPr>
          <a:xfrm>
            <a:off x="2103120" y="3163824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!! CU Grid"/>
          <p:cNvSpPr/>
          <p:nvPr/>
        </p:nvSpPr>
        <p:spPr>
          <a:xfrm>
            <a:off x="2103120" y="3419856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!! CU Grid"/>
          <p:cNvSpPr/>
          <p:nvPr/>
        </p:nvSpPr>
        <p:spPr>
          <a:xfrm>
            <a:off x="2103120" y="3675888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!! CU Grid"/>
          <p:cNvSpPr/>
          <p:nvPr/>
        </p:nvSpPr>
        <p:spPr>
          <a:xfrm>
            <a:off x="2103120" y="3931920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!! CU Grid"/>
          <p:cNvSpPr/>
          <p:nvPr/>
        </p:nvSpPr>
        <p:spPr>
          <a:xfrm>
            <a:off x="2103120" y="4187952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!! CU Grid"/>
          <p:cNvSpPr/>
          <p:nvPr/>
        </p:nvSpPr>
        <p:spPr>
          <a:xfrm>
            <a:off x="2103120" y="4443984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!! CU Grid"/>
          <p:cNvSpPr/>
          <p:nvPr/>
        </p:nvSpPr>
        <p:spPr>
          <a:xfrm>
            <a:off x="2103120" y="4700016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!! CU Grid"/>
          <p:cNvSpPr/>
          <p:nvPr/>
        </p:nvSpPr>
        <p:spPr>
          <a:xfrm>
            <a:off x="2103120" y="4956048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!! CU Grid"/>
          <p:cNvSpPr/>
          <p:nvPr/>
        </p:nvSpPr>
        <p:spPr>
          <a:xfrm>
            <a:off x="2103120" y="5212080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!! CU Grid"/>
          <p:cNvSpPr/>
          <p:nvPr/>
        </p:nvSpPr>
        <p:spPr>
          <a:xfrm>
            <a:off x="2788920" y="1371600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!! CU Grid"/>
          <p:cNvSpPr/>
          <p:nvPr/>
        </p:nvSpPr>
        <p:spPr>
          <a:xfrm>
            <a:off x="2788920" y="1627632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!! CU Grid"/>
          <p:cNvSpPr/>
          <p:nvPr/>
        </p:nvSpPr>
        <p:spPr>
          <a:xfrm>
            <a:off x="2788920" y="1883664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!! CU Grid"/>
          <p:cNvSpPr/>
          <p:nvPr/>
        </p:nvSpPr>
        <p:spPr>
          <a:xfrm>
            <a:off x="2788920" y="2139696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!! CU Grid"/>
          <p:cNvSpPr/>
          <p:nvPr/>
        </p:nvSpPr>
        <p:spPr>
          <a:xfrm>
            <a:off x="2788920" y="2395728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!! CU Grid"/>
          <p:cNvSpPr/>
          <p:nvPr/>
        </p:nvSpPr>
        <p:spPr>
          <a:xfrm>
            <a:off x="2788920" y="2651760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!! CU Grid"/>
          <p:cNvSpPr/>
          <p:nvPr/>
        </p:nvSpPr>
        <p:spPr>
          <a:xfrm>
            <a:off x="2788920" y="2907792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!! CU Grid"/>
          <p:cNvSpPr/>
          <p:nvPr/>
        </p:nvSpPr>
        <p:spPr>
          <a:xfrm>
            <a:off x="2788920" y="3163824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!! CU Grid"/>
          <p:cNvSpPr/>
          <p:nvPr/>
        </p:nvSpPr>
        <p:spPr>
          <a:xfrm>
            <a:off x="2788920" y="3419856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!! CU Grid"/>
          <p:cNvSpPr/>
          <p:nvPr/>
        </p:nvSpPr>
        <p:spPr>
          <a:xfrm>
            <a:off x="2788920" y="3675888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!! CU Grid"/>
          <p:cNvSpPr/>
          <p:nvPr/>
        </p:nvSpPr>
        <p:spPr>
          <a:xfrm>
            <a:off x="2788920" y="3931920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!! CU Grid"/>
          <p:cNvSpPr/>
          <p:nvPr/>
        </p:nvSpPr>
        <p:spPr>
          <a:xfrm>
            <a:off x="2788920" y="4187952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!! CU Grid"/>
          <p:cNvSpPr/>
          <p:nvPr/>
        </p:nvSpPr>
        <p:spPr>
          <a:xfrm>
            <a:off x="2788920" y="4443984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!! CU Grid"/>
          <p:cNvSpPr/>
          <p:nvPr/>
        </p:nvSpPr>
        <p:spPr>
          <a:xfrm>
            <a:off x="2788920" y="4700016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!! CU Grid"/>
          <p:cNvSpPr/>
          <p:nvPr/>
        </p:nvSpPr>
        <p:spPr>
          <a:xfrm>
            <a:off x="2788920" y="4956048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!! CU Grid"/>
          <p:cNvSpPr/>
          <p:nvPr/>
        </p:nvSpPr>
        <p:spPr>
          <a:xfrm>
            <a:off x="2788920" y="5212080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!! CU Grid"/>
          <p:cNvSpPr/>
          <p:nvPr/>
        </p:nvSpPr>
        <p:spPr>
          <a:xfrm>
            <a:off x="3474720" y="1371600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!! CU Grid"/>
          <p:cNvSpPr/>
          <p:nvPr/>
        </p:nvSpPr>
        <p:spPr>
          <a:xfrm>
            <a:off x="3474720" y="1627632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!! CU Grid"/>
          <p:cNvSpPr/>
          <p:nvPr/>
        </p:nvSpPr>
        <p:spPr>
          <a:xfrm>
            <a:off x="3474720" y="1883664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!! CU Grid"/>
          <p:cNvSpPr/>
          <p:nvPr/>
        </p:nvSpPr>
        <p:spPr>
          <a:xfrm>
            <a:off x="3474720" y="2139696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!! CU Grid"/>
          <p:cNvSpPr/>
          <p:nvPr/>
        </p:nvSpPr>
        <p:spPr>
          <a:xfrm>
            <a:off x="3474720" y="2395728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!! CU Grid"/>
          <p:cNvSpPr/>
          <p:nvPr/>
        </p:nvSpPr>
        <p:spPr>
          <a:xfrm>
            <a:off x="3474720" y="2651760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!! CU Grid"/>
          <p:cNvSpPr/>
          <p:nvPr/>
        </p:nvSpPr>
        <p:spPr>
          <a:xfrm>
            <a:off x="3474720" y="2907792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!! CU Grid"/>
          <p:cNvSpPr/>
          <p:nvPr/>
        </p:nvSpPr>
        <p:spPr>
          <a:xfrm>
            <a:off x="3474720" y="3163824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!! CU Grid"/>
          <p:cNvSpPr/>
          <p:nvPr/>
        </p:nvSpPr>
        <p:spPr>
          <a:xfrm>
            <a:off x="3474720" y="3419856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!! CU Grid"/>
          <p:cNvSpPr/>
          <p:nvPr/>
        </p:nvSpPr>
        <p:spPr>
          <a:xfrm>
            <a:off x="3474720" y="3675888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!! CU Grid"/>
          <p:cNvSpPr/>
          <p:nvPr/>
        </p:nvSpPr>
        <p:spPr>
          <a:xfrm>
            <a:off x="3474720" y="3931920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!! CU Grid"/>
          <p:cNvSpPr/>
          <p:nvPr/>
        </p:nvSpPr>
        <p:spPr>
          <a:xfrm>
            <a:off x="3474720" y="4187952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!! CU Grid"/>
          <p:cNvSpPr/>
          <p:nvPr/>
        </p:nvSpPr>
        <p:spPr>
          <a:xfrm>
            <a:off x="3474720" y="4443984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!! CU Grid"/>
          <p:cNvSpPr/>
          <p:nvPr/>
        </p:nvSpPr>
        <p:spPr>
          <a:xfrm>
            <a:off x="3474720" y="4700016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!! CU Grid"/>
          <p:cNvSpPr/>
          <p:nvPr/>
        </p:nvSpPr>
        <p:spPr>
          <a:xfrm>
            <a:off x="3474720" y="4956048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!! CU Grid"/>
          <p:cNvSpPr/>
          <p:nvPr/>
        </p:nvSpPr>
        <p:spPr>
          <a:xfrm>
            <a:off x="3474720" y="5212080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!! CU Grid"/>
          <p:cNvSpPr/>
          <p:nvPr/>
        </p:nvSpPr>
        <p:spPr>
          <a:xfrm>
            <a:off x="4160520" y="1371600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!! CU Grid"/>
          <p:cNvSpPr/>
          <p:nvPr/>
        </p:nvSpPr>
        <p:spPr>
          <a:xfrm>
            <a:off x="4160520" y="1627632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!! CU Grid"/>
          <p:cNvSpPr/>
          <p:nvPr/>
        </p:nvSpPr>
        <p:spPr>
          <a:xfrm>
            <a:off x="4160520" y="1883664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!! CU Grid"/>
          <p:cNvSpPr/>
          <p:nvPr/>
        </p:nvSpPr>
        <p:spPr>
          <a:xfrm>
            <a:off x="4160520" y="2139696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!! CU Grid"/>
          <p:cNvSpPr/>
          <p:nvPr/>
        </p:nvSpPr>
        <p:spPr>
          <a:xfrm>
            <a:off x="4160520" y="2395728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!! CU Grid"/>
          <p:cNvSpPr/>
          <p:nvPr/>
        </p:nvSpPr>
        <p:spPr>
          <a:xfrm>
            <a:off x="4160520" y="2651760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!! CU Grid"/>
          <p:cNvSpPr/>
          <p:nvPr/>
        </p:nvSpPr>
        <p:spPr>
          <a:xfrm>
            <a:off x="4160520" y="2907792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!! CU Grid"/>
          <p:cNvSpPr/>
          <p:nvPr/>
        </p:nvSpPr>
        <p:spPr>
          <a:xfrm>
            <a:off x="4160520" y="3163824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!! CU Grid"/>
          <p:cNvSpPr/>
          <p:nvPr/>
        </p:nvSpPr>
        <p:spPr>
          <a:xfrm>
            <a:off x="4160520" y="3419856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!! CU Grid"/>
          <p:cNvSpPr/>
          <p:nvPr/>
        </p:nvSpPr>
        <p:spPr>
          <a:xfrm>
            <a:off x="4160520" y="3675888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!! CU Grid"/>
          <p:cNvSpPr/>
          <p:nvPr/>
        </p:nvSpPr>
        <p:spPr>
          <a:xfrm>
            <a:off x="4160520" y="3931920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!! CU Grid"/>
          <p:cNvSpPr/>
          <p:nvPr/>
        </p:nvSpPr>
        <p:spPr>
          <a:xfrm>
            <a:off x="4160520" y="4187952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!! CU Grid"/>
          <p:cNvSpPr/>
          <p:nvPr/>
        </p:nvSpPr>
        <p:spPr>
          <a:xfrm>
            <a:off x="4160520" y="4443984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!! CU Grid"/>
          <p:cNvSpPr/>
          <p:nvPr/>
        </p:nvSpPr>
        <p:spPr>
          <a:xfrm>
            <a:off x="4160520" y="4700016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!! CU Grid"/>
          <p:cNvSpPr/>
          <p:nvPr/>
        </p:nvSpPr>
        <p:spPr>
          <a:xfrm>
            <a:off x="4160520" y="4956048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!! CU Grid"/>
          <p:cNvSpPr/>
          <p:nvPr/>
        </p:nvSpPr>
        <p:spPr>
          <a:xfrm>
            <a:off x="4160520" y="5212080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!! CU Grid"/>
          <p:cNvSpPr/>
          <p:nvPr/>
        </p:nvSpPr>
        <p:spPr>
          <a:xfrm>
            <a:off x="4846320" y="1371600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!! CU Grid"/>
          <p:cNvSpPr/>
          <p:nvPr/>
        </p:nvSpPr>
        <p:spPr>
          <a:xfrm>
            <a:off x="4846320" y="1627632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!! CU Grid"/>
          <p:cNvSpPr/>
          <p:nvPr/>
        </p:nvSpPr>
        <p:spPr>
          <a:xfrm>
            <a:off x="4846320" y="1883664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!! CU Grid"/>
          <p:cNvSpPr/>
          <p:nvPr/>
        </p:nvSpPr>
        <p:spPr>
          <a:xfrm>
            <a:off x="4846320" y="2139696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!! CU Grid"/>
          <p:cNvSpPr/>
          <p:nvPr/>
        </p:nvSpPr>
        <p:spPr>
          <a:xfrm>
            <a:off x="4846320" y="2395728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!! CU Grid"/>
          <p:cNvSpPr/>
          <p:nvPr/>
        </p:nvSpPr>
        <p:spPr>
          <a:xfrm>
            <a:off x="4846320" y="2651760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!! CU Grid"/>
          <p:cNvSpPr/>
          <p:nvPr/>
        </p:nvSpPr>
        <p:spPr>
          <a:xfrm>
            <a:off x="4846320" y="2907792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!! CU Grid"/>
          <p:cNvSpPr/>
          <p:nvPr/>
        </p:nvSpPr>
        <p:spPr>
          <a:xfrm>
            <a:off x="4846320" y="3163824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!! CU Grid"/>
          <p:cNvSpPr/>
          <p:nvPr/>
        </p:nvSpPr>
        <p:spPr>
          <a:xfrm>
            <a:off x="4846320" y="3419856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!! CU Grid"/>
          <p:cNvSpPr/>
          <p:nvPr/>
        </p:nvSpPr>
        <p:spPr>
          <a:xfrm>
            <a:off x="4846320" y="3675888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!! CU Grid"/>
          <p:cNvSpPr/>
          <p:nvPr/>
        </p:nvSpPr>
        <p:spPr>
          <a:xfrm>
            <a:off x="4846320" y="3931920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!! CU Grid"/>
          <p:cNvSpPr/>
          <p:nvPr/>
        </p:nvSpPr>
        <p:spPr>
          <a:xfrm>
            <a:off x="4846320" y="4187952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!! CU Grid"/>
          <p:cNvSpPr/>
          <p:nvPr/>
        </p:nvSpPr>
        <p:spPr>
          <a:xfrm>
            <a:off x="4846320" y="4443984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!! CU Grid"/>
          <p:cNvSpPr/>
          <p:nvPr/>
        </p:nvSpPr>
        <p:spPr>
          <a:xfrm>
            <a:off x="4846320" y="4700016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!! CU Grid"/>
          <p:cNvSpPr/>
          <p:nvPr/>
        </p:nvSpPr>
        <p:spPr>
          <a:xfrm>
            <a:off x="4846320" y="4956048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!! CU Grid"/>
          <p:cNvSpPr/>
          <p:nvPr/>
        </p:nvSpPr>
        <p:spPr>
          <a:xfrm>
            <a:off x="4846320" y="5212080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!! CU Grid"/>
          <p:cNvSpPr/>
          <p:nvPr/>
        </p:nvSpPr>
        <p:spPr>
          <a:xfrm>
            <a:off x="5532120" y="1371600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!! CU Grid"/>
          <p:cNvSpPr/>
          <p:nvPr/>
        </p:nvSpPr>
        <p:spPr>
          <a:xfrm>
            <a:off x="5532120" y="1627632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!! CU Grid"/>
          <p:cNvSpPr/>
          <p:nvPr/>
        </p:nvSpPr>
        <p:spPr>
          <a:xfrm>
            <a:off x="5532120" y="1883664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!! CU Grid"/>
          <p:cNvSpPr/>
          <p:nvPr/>
        </p:nvSpPr>
        <p:spPr>
          <a:xfrm>
            <a:off x="5532120" y="2139696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!! CU Grid"/>
          <p:cNvSpPr/>
          <p:nvPr/>
        </p:nvSpPr>
        <p:spPr>
          <a:xfrm>
            <a:off x="5532120" y="2395728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!! CU Grid"/>
          <p:cNvSpPr/>
          <p:nvPr/>
        </p:nvSpPr>
        <p:spPr>
          <a:xfrm>
            <a:off x="5532120" y="2651760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!! CU Grid"/>
          <p:cNvSpPr/>
          <p:nvPr/>
        </p:nvSpPr>
        <p:spPr>
          <a:xfrm>
            <a:off x="5532120" y="2907792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!! CU Grid"/>
          <p:cNvSpPr/>
          <p:nvPr/>
        </p:nvSpPr>
        <p:spPr>
          <a:xfrm>
            <a:off x="5532120" y="3163824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!! CU Grid"/>
          <p:cNvSpPr/>
          <p:nvPr/>
        </p:nvSpPr>
        <p:spPr>
          <a:xfrm>
            <a:off x="5532120" y="3419856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!! CU Grid"/>
          <p:cNvSpPr/>
          <p:nvPr/>
        </p:nvSpPr>
        <p:spPr>
          <a:xfrm>
            <a:off x="5532120" y="3675888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!! CU Grid"/>
          <p:cNvSpPr/>
          <p:nvPr/>
        </p:nvSpPr>
        <p:spPr>
          <a:xfrm>
            <a:off x="5532120" y="3931920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!! CU Grid"/>
          <p:cNvSpPr/>
          <p:nvPr/>
        </p:nvSpPr>
        <p:spPr>
          <a:xfrm>
            <a:off x="5532120" y="4187952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!! CU Grid"/>
          <p:cNvSpPr/>
          <p:nvPr/>
        </p:nvSpPr>
        <p:spPr>
          <a:xfrm>
            <a:off x="5532120" y="4443984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!! CU Grid"/>
          <p:cNvSpPr/>
          <p:nvPr/>
        </p:nvSpPr>
        <p:spPr>
          <a:xfrm>
            <a:off x="5532120" y="4700016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!! CU Grid"/>
          <p:cNvSpPr/>
          <p:nvPr/>
        </p:nvSpPr>
        <p:spPr>
          <a:xfrm>
            <a:off x="5532120" y="4956048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!! CU Grid"/>
          <p:cNvSpPr/>
          <p:nvPr/>
        </p:nvSpPr>
        <p:spPr>
          <a:xfrm>
            <a:off x="5532120" y="5212080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!! CU Grid"/>
          <p:cNvSpPr/>
          <p:nvPr/>
        </p:nvSpPr>
        <p:spPr>
          <a:xfrm>
            <a:off x="6217920" y="1371600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!! CU Grid"/>
          <p:cNvSpPr/>
          <p:nvPr/>
        </p:nvSpPr>
        <p:spPr>
          <a:xfrm>
            <a:off x="6217920" y="1627632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!! CU Grid"/>
          <p:cNvSpPr/>
          <p:nvPr/>
        </p:nvSpPr>
        <p:spPr>
          <a:xfrm>
            <a:off x="6217920" y="1883664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!! CU Grid"/>
          <p:cNvSpPr/>
          <p:nvPr/>
        </p:nvSpPr>
        <p:spPr>
          <a:xfrm>
            <a:off x="6217920" y="2139696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!! CU Grid"/>
          <p:cNvSpPr/>
          <p:nvPr/>
        </p:nvSpPr>
        <p:spPr>
          <a:xfrm>
            <a:off x="6217920" y="2395728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!! CU Grid"/>
          <p:cNvSpPr/>
          <p:nvPr/>
        </p:nvSpPr>
        <p:spPr>
          <a:xfrm>
            <a:off x="6217920" y="2651760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!! CU Grid"/>
          <p:cNvSpPr/>
          <p:nvPr/>
        </p:nvSpPr>
        <p:spPr>
          <a:xfrm>
            <a:off x="6217920" y="2907792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!! CU Grid"/>
          <p:cNvSpPr/>
          <p:nvPr/>
        </p:nvSpPr>
        <p:spPr>
          <a:xfrm>
            <a:off x="6217920" y="3163824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!! CU Grid"/>
          <p:cNvSpPr/>
          <p:nvPr/>
        </p:nvSpPr>
        <p:spPr>
          <a:xfrm>
            <a:off x="6217920" y="3419856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!! CU Grid"/>
          <p:cNvSpPr/>
          <p:nvPr/>
        </p:nvSpPr>
        <p:spPr>
          <a:xfrm>
            <a:off x="6217920" y="3675888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!! CU Grid"/>
          <p:cNvSpPr/>
          <p:nvPr/>
        </p:nvSpPr>
        <p:spPr>
          <a:xfrm>
            <a:off x="6217920" y="3931920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!! CU Grid"/>
          <p:cNvSpPr/>
          <p:nvPr/>
        </p:nvSpPr>
        <p:spPr>
          <a:xfrm>
            <a:off x="6217920" y="4187952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!! CU Grid"/>
          <p:cNvSpPr/>
          <p:nvPr/>
        </p:nvSpPr>
        <p:spPr>
          <a:xfrm>
            <a:off x="6217920" y="4443984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!! CU Grid"/>
          <p:cNvSpPr/>
          <p:nvPr/>
        </p:nvSpPr>
        <p:spPr>
          <a:xfrm>
            <a:off x="6217920" y="4700016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!! CU Grid"/>
          <p:cNvSpPr/>
          <p:nvPr/>
        </p:nvSpPr>
        <p:spPr>
          <a:xfrm>
            <a:off x="6217920" y="4956048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!! CU Grid"/>
          <p:cNvSpPr/>
          <p:nvPr/>
        </p:nvSpPr>
        <p:spPr>
          <a:xfrm>
            <a:off x="6217920" y="5212080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!! CU Grid"/>
          <p:cNvSpPr/>
          <p:nvPr/>
        </p:nvSpPr>
        <p:spPr>
          <a:xfrm>
            <a:off x="6903720" y="1371600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!! CU Grid"/>
          <p:cNvSpPr/>
          <p:nvPr/>
        </p:nvSpPr>
        <p:spPr>
          <a:xfrm>
            <a:off x="6903720" y="1627632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!! CU Grid"/>
          <p:cNvSpPr/>
          <p:nvPr/>
        </p:nvSpPr>
        <p:spPr>
          <a:xfrm>
            <a:off x="6903720" y="1883664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!! CU Grid"/>
          <p:cNvSpPr/>
          <p:nvPr/>
        </p:nvSpPr>
        <p:spPr>
          <a:xfrm>
            <a:off x="6903720" y="2139696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!! CU Grid"/>
          <p:cNvSpPr/>
          <p:nvPr/>
        </p:nvSpPr>
        <p:spPr>
          <a:xfrm>
            <a:off x="6903720" y="2395728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!! CU Grid"/>
          <p:cNvSpPr/>
          <p:nvPr/>
        </p:nvSpPr>
        <p:spPr>
          <a:xfrm>
            <a:off x="6903720" y="2651760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!! CU Grid"/>
          <p:cNvSpPr/>
          <p:nvPr/>
        </p:nvSpPr>
        <p:spPr>
          <a:xfrm>
            <a:off x="6903720" y="2907792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!! CU Grid"/>
          <p:cNvSpPr/>
          <p:nvPr/>
        </p:nvSpPr>
        <p:spPr>
          <a:xfrm>
            <a:off x="6903720" y="3163824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!! CU Grid"/>
          <p:cNvSpPr/>
          <p:nvPr/>
        </p:nvSpPr>
        <p:spPr>
          <a:xfrm>
            <a:off x="6903720" y="3419856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!! CU Grid"/>
          <p:cNvSpPr/>
          <p:nvPr/>
        </p:nvSpPr>
        <p:spPr>
          <a:xfrm>
            <a:off x="6903720" y="3675888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!! CU Grid"/>
          <p:cNvSpPr/>
          <p:nvPr/>
        </p:nvSpPr>
        <p:spPr>
          <a:xfrm>
            <a:off x="6903720" y="3931920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!! CU Grid"/>
          <p:cNvSpPr/>
          <p:nvPr/>
        </p:nvSpPr>
        <p:spPr>
          <a:xfrm>
            <a:off x="6903720" y="4187952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!! CU Grid"/>
          <p:cNvSpPr/>
          <p:nvPr/>
        </p:nvSpPr>
        <p:spPr>
          <a:xfrm>
            <a:off x="6903720" y="4443984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!! CU Grid"/>
          <p:cNvSpPr/>
          <p:nvPr/>
        </p:nvSpPr>
        <p:spPr>
          <a:xfrm>
            <a:off x="6903720" y="4700016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!! CU Grid"/>
          <p:cNvSpPr/>
          <p:nvPr/>
        </p:nvSpPr>
        <p:spPr>
          <a:xfrm>
            <a:off x="6903720" y="4956048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!! CU Grid"/>
          <p:cNvSpPr/>
          <p:nvPr/>
        </p:nvSpPr>
        <p:spPr>
          <a:xfrm>
            <a:off x="6903720" y="5212080"/>
            <a:ext cx="228600" cy="64008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1371600" y="594360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23130"/>
                </a:solidFill>
              </a:defRPr>
            </a:pPr>
            <a:r>
              <a:t>30 seconds × 64 CUs = 1,920 CU-seconds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p:transition="morph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solidFill>
                  <a:srgbClr val="323130"/>
                </a:solidFill>
              </a:defRPr>
            </a:pPr>
            <a:r>
              <a:t>24-Hour Daily Overview</a:t>
            </a:r>
          </a:p>
        </p:txBody>
      </p:sp>
      <p:sp>
        <p:nvSpPr>
          <p:cNvPr id="3" name="!! CU Grid"/>
          <p:cNvSpPr/>
          <p:nvPr/>
        </p:nvSpPr>
        <p:spPr>
          <a:xfrm>
            <a:off x="640080" y="2286000"/>
            <a:ext cx="256032" cy="3200400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 CU Grid"/>
          <p:cNvSpPr/>
          <p:nvPr/>
        </p:nvSpPr>
        <p:spPr>
          <a:xfrm>
            <a:off x="914400" y="2286000"/>
            <a:ext cx="256032" cy="3200400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 CU Grid"/>
          <p:cNvSpPr/>
          <p:nvPr/>
        </p:nvSpPr>
        <p:spPr>
          <a:xfrm>
            <a:off x="1188720" y="2286000"/>
            <a:ext cx="256032" cy="3200400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 CU Grid"/>
          <p:cNvSpPr/>
          <p:nvPr/>
        </p:nvSpPr>
        <p:spPr>
          <a:xfrm>
            <a:off x="1463040" y="2286000"/>
            <a:ext cx="256032" cy="3200400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!! CU Grid"/>
          <p:cNvSpPr/>
          <p:nvPr/>
        </p:nvSpPr>
        <p:spPr>
          <a:xfrm>
            <a:off x="1737360" y="2286000"/>
            <a:ext cx="256032" cy="3200400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 CU Grid"/>
          <p:cNvSpPr/>
          <p:nvPr/>
        </p:nvSpPr>
        <p:spPr>
          <a:xfrm>
            <a:off x="2011680" y="2286000"/>
            <a:ext cx="256032" cy="3200400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 CU Grid"/>
          <p:cNvSpPr/>
          <p:nvPr/>
        </p:nvSpPr>
        <p:spPr>
          <a:xfrm>
            <a:off x="2286000" y="2286000"/>
            <a:ext cx="256032" cy="3200400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 CU Grid"/>
          <p:cNvSpPr/>
          <p:nvPr/>
        </p:nvSpPr>
        <p:spPr>
          <a:xfrm>
            <a:off x="2560320" y="2286000"/>
            <a:ext cx="256032" cy="3200400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 CU Grid"/>
          <p:cNvSpPr/>
          <p:nvPr/>
        </p:nvSpPr>
        <p:spPr>
          <a:xfrm>
            <a:off x="2834640" y="2286000"/>
            <a:ext cx="256032" cy="3200400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 CU Grid"/>
          <p:cNvSpPr/>
          <p:nvPr/>
        </p:nvSpPr>
        <p:spPr>
          <a:xfrm>
            <a:off x="3108960" y="2286000"/>
            <a:ext cx="256032" cy="3200400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!! CU Grid"/>
          <p:cNvSpPr/>
          <p:nvPr/>
        </p:nvSpPr>
        <p:spPr>
          <a:xfrm>
            <a:off x="3383280" y="2286000"/>
            <a:ext cx="256032" cy="3200400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!! CU Grid"/>
          <p:cNvSpPr/>
          <p:nvPr/>
        </p:nvSpPr>
        <p:spPr>
          <a:xfrm>
            <a:off x="3657600" y="2286000"/>
            <a:ext cx="256032" cy="3200400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!! CU Grid"/>
          <p:cNvSpPr/>
          <p:nvPr/>
        </p:nvSpPr>
        <p:spPr>
          <a:xfrm>
            <a:off x="3931920" y="2286000"/>
            <a:ext cx="256032" cy="3200400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!! CU Grid"/>
          <p:cNvSpPr/>
          <p:nvPr/>
        </p:nvSpPr>
        <p:spPr>
          <a:xfrm>
            <a:off x="4206240" y="2286000"/>
            <a:ext cx="256032" cy="3200400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!! CU Grid"/>
          <p:cNvSpPr/>
          <p:nvPr/>
        </p:nvSpPr>
        <p:spPr>
          <a:xfrm>
            <a:off x="4480560" y="2286000"/>
            <a:ext cx="256032" cy="3200400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!! CU Grid"/>
          <p:cNvSpPr/>
          <p:nvPr/>
        </p:nvSpPr>
        <p:spPr>
          <a:xfrm>
            <a:off x="4754880" y="2286000"/>
            <a:ext cx="256032" cy="3200400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!! CU Grid"/>
          <p:cNvSpPr/>
          <p:nvPr/>
        </p:nvSpPr>
        <p:spPr>
          <a:xfrm>
            <a:off x="5029200" y="2286000"/>
            <a:ext cx="256032" cy="3200400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!! CU Grid"/>
          <p:cNvSpPr/>
          <p:nvPr/>
        </p:nvSpPr>
        <p:spPr>
          <a:xfrm>
            <a:off x="5303520" y="2286000"/>
            <a:ext cx="256032" cy="3200400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!! CU Grid"/>
          <p:cNvSpPr/>
          <p:nvPr/>
        </p:nvSpPr>
        <p:spPr>
          <a:xfrm>
            <a:off x="5577840" y="2286000"/>
            <a:ext cx="256032" cy="3200400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!! CU Grid"/>
          <p:cNvSpPr/>
          <p:nvPr/>
        </p:nvSpPr>
        <p:spPr>
          <a:xfrm>
            <a:off x="5852160" y="2286000"/>
            <a:ext cx="256032" cy="3200400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!! CU Grid"/>
          <p:cNvSpPr/>
          <p:nvPr/>
        </p:nvSpPr>
        <p:spPr>
          <a:xfrm>
            <a:off x="6126480" y="2286000"/>
            <a:ext cx="256032" cy="3200400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!! CU Grid"/>
          <p:cNvSpPr/>
          <p:nvPr/>
        </p:nvSpPr>
        <p:spPr>
          <a:xfrm>
            <a:off x="6400800" y="2286000"/>
            <a:ext cx="256032" cy="3200400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!! CU Grid"/>
          <p:cNvSpPr/>
          <p:nvPr/>
        </p:nvSpPr>
        <p:spPr>
          <a:xfrm>
            <a:off x="6675120" y="2286000"/>
            <a:ext cx="256032" cy="3200400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!! CU Grid"/>
          <p:cNvSpPr/>
          <p:nvPr/>
        </p:nvSpPr>
        <p:spPr>
          <a:xfrm>
            <a:off x="6949440" y="2286000"/>
            <a:ext cx="256032" cy="3200400"/>
          </a:xfrm>
          <a:prstGeom prst="roundRect">
            <a:avLst/>
          </a:prstGeom>
          <a:solidFill>
            <a:srgbClr val="117865"/>
          </a:solidFill>
          <a:ln w="190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6692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23130"/>
                </a:solidFill>
              </a:defRPr>
            </a:pPr>
            <a:r>
              <a:t>00:00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56692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23130"/>
                </a:solidFill>
              </a:defRPr>
            </a:pPr>
            <a:r>
              <a:t>06:00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56692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23130"/>
                </a:solidFill>
              </a:defRPr>
            </a:pPr>
            <a:r>
              <a:t>12:00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56692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23130"/>
                </a:solidFill>
              </a:defRPr>
            </a:pPr>
            <a:r>
              <a:t>18:00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56692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23130"/>
                </a:solidFill>
              </a:defRPr>
            </a:pPr>
            <a:r>
              <a:t>24:00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621792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23130"/>
                </a:solidFill>
              </a:defRPr>
            </a:pPr>
            <a:r>
              <a:t>Aggregated view showing capacity usage across 24 hours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